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7" r:id="rId3"/>
    <p:sldId id="278" r:id="rId4"/>
    <p:sldId id="257" r:id="rId5"/>
    <p:sldId id="258" r:id="rId6"/>
    <p:sldId id="259" r:id="rId7"/>
    <p:sldId id="260" r:id="rId8"/>
    <p:sldId id="261" r:id="rId9"/>
    <p:sldId id="263" r:id="rId10"/>
    <p:sldId id="262" r:id="rId11"/>
    <p:sldId id="264" r:id="rId12"/>
    <p:sldId id="265" r:id="rId13"/>
    <p:sldId id="266" r:id="rId14"/>
    <p:sldId id="267" r:id="rId15"/>
    <p:sldId id="268" r:id="rId16"/>
    <p:sldId id="273" r:id="rId17"/>
    <p:sldId id="270" r:id="rId18"/>
    <p:sldId id="269" r:id="rId19"/>
    <p:sldId id="271" r:id="rId20"/>
    <p:sldId id="272"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AE18"/>
    <a:srgbClr val="DC63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5323" autoAdjust="0"/>
  </p:normalViewPr>
  <p:slideViewPr>
    <p:cSldViewPr snapToGrid="0">
      <p:cViewPr varScale="1">
        <p:scale>
          <a:sx n="86" d="100"/>
          <a:sy n="86" d="100"/>
        </p:scale>
        <p:origin x="14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F5B46B-F5BC-4112-8250-87E06A150269}" type="datetimeFigureOut">
              <a:rPr lang="en-GB" smtClean="0"/>
              <a:t>07/07/2023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2CD3F-4247-46B6-8D38-B590AA3A769D}" type="slidenum">
              <a:rPr lang="en-GB" smtClean="0"/>
              <a:t>‹#›</a:t>
            </a:fld>
            <a:endParaRPr lang="en-GB"/>
          </a:p>
        </p:txBody>
      </p:sp>
    </p:spTree>
    <p:extLst>
      <p:ext uri="{BB962C8B-B14F-4D97-AF65-F5344CB8AC3E}">
        <p14:creationId xmlns:p14="http://schemas.microsoft.com/office/powerpoint/2010/main" val="3985591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p:txBody>
      </p:sp>
      <p:sp>
        <p:nvSpPr>
          <p:cNvPr id="4" name="Slide Number Placeholder 3"/>
          <p:cNvSpPr>
            <a:spLocks noGrp="1"/>
          </p:cNvSpPr>
          <p:nvPr>
            <p:ph type="sldNum" sz="quarter" idx="5"/>
          </p:nvPr>
        </p:nvSpPr>
        <p:spPr/>
        <p:txBody>
          <a:bodyPr/>
          <a:lstStyle/>
          <a:p>
            <a:fld id="{6062CD3F-4247-46B6-8D38-B590AA3A769D}" type="slidenum">
              <a:rPr lang="en-GB" smtClean="0"/>
              <a:t>4</a:t>
            </a:fld>
            <a:endParaRPr lang="en-GB"/>
          </a:p>
        </p:txBody>
      </p:sp>
    </p:spTree>
    <p:extLst>
      <p:ext uri="{BB962C8B-B14F-4D97-AF65-F5344CB8AC3E}">
        <p14:creationId xmlns:p14="http://schemas.microsoft.com/office/powerpoint/2010/main" val="3158840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Consider changing the degree k and the mobile k in the recursion formula</a:t>
            </a:r>
          </a:p>
          <a:p>
            <a:r>
              <a:rPr lang="en-GB" dirty="0"/>
              <a:t>Consider changing </a:t>
            </a:r>
            <a:r>
              <a:rPr lang="en-GB" dirty="0" err="1"/>
              <a:t>t_i</a:t>
            </a:r>
            <a:r>
              <a:rPr lang="en-GB" dirty="0"/>
              <a:t> to something that isn’t t</a:t>
            </a:r>
          </a:p>
          <a:p>
            <a:endParaRPr lang="en-GB" dirty="0"/>
          </a:p>
        </p:txBody>
      </p:sp>
      <p:sp>
        <p:nvSpPr>
          <p:cNvPr id="4" name="Slide Number Placeholder 3"/>
          <p:cNvSpPr>
            <a:spLocks noGrp="1"/>
          </p:cNvSpPr>
          <p:nvPr>
            <p:ph type="sldNum" sz="quarter" idx="5"/>
          </p:nvPr>
        </p:nvSpPr>
        <p:spPr/>
        <p:txBody>
          <a:bodyPr/>
          <a:lstStyle/>
          <a:p>
            <a:fld id="{6062CD3F-4247-46B6-8D38-B590AA3A769D}" type="slidenum">
              <a:rPr lang="en-GB" smtClean="0"/>
              <a:t>5</a:t>
            </a:fld>
            <a:endParaRPr lang="en-GB"/>
          </a:p>
        </p:txBody>
      </p:sp>
    </p:spTree>
    <p:extLst>
      <p:ext uri="{BB962C8B-B14F-4D97-AF65-F5344CB8AC3E}">
        <p14:creationId xmlns:p14="http://schemas.microsoft.com/office/powerpoint/2010/main" val="1199990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The values of </a:t>
            </a:r>
            <a:r>
              <a:rPr lang="en-GB" dirty="0" err="1"/>
              <a:t>ti</a:t>
            </a:r>
            <a:r>
              <a:rPr lang="en-GB" dirty="0"/>
              <a:t> in the basis functions are taken from a sequence called the knot vector.</a:t>
            </a:r>
          </a:p>
          <a:p>
            <a:pPr marL="171450" indent="-171450">
              <a:buFontTx/>
              <a:buChar char="-"/>
            </a:pPr>
            <a:r>
              <a:rPr lang="en-GB" dirty="0"/>
              <a:t>At any given point on the spline, knots that t lies between determine which basis functions affect the shape of the curve. </a:t>
            </a:r>
          </a:p>
          <a:p>
            <a:pPr marL="171450" indent="-171450">
              <a:buFontTx/>
              <a:buChar char="-"/>
            </a:pPr>
            <a:r>
              <a:rPr lang="en-GB" dirty="0"/>
              <a:t>The size of T is related to the spline degree and the number of control points by m = n + k + 1</a:t>
            </a:r>
          </a:p>
          <a:p>
            <a:pPr marL="171450" indent="-171450">
              <a:buFontTx/>
              <a:buChar char="-"/>
            </a:pPr>
            <a:r>
              <a:rPr lang="en-GB" dirty="0"/>
              <a:t>T must also be non-decreasing – time cannot move backwards :P</a:t>
            </a:r>
          </a:p>
          <a:p>
            <a:endParaRPr lang="en-GB" dirty="0"/>
          </a:p>
        </p:txBody>
      </p:sp>
      <p:sp>
        <p:nvSpPr>
          <p:cNvPr id="4" name="Slide Number Placeholder 3"/>
          <p:cNvSpPr>
            <a:spLocks noGrp="1"/>
          </p:cNvSpPr>
          <p:nvPr>
            <p:ph type="sldNum" sz="quarter" idx="5"/>
          </p:nvPr>
        </p:nvSpPr>
        <p:spPr/>
        <p:txBody>
          <a:bodyPr/>
          <a:lstStyle/>
          <a:p>
            <a:fld id="{6062CD3F-4247-46B6-8D38-B590AA3A769D}" type="slidenum">
              <a:rPr lang="en-GB" smtClean="0"/>
              <a:t>7</a:t>
            </a:fld>
            <a:endParaRPr lang="en-GB"/>
          </a:p>
        </p:txBody>
      </p:sp>
    </p:spTree>
    <p:extLst>
      <p:ext uri="{BB962C8B-B14F-4D97-AF65-F5344CB8AC3E}">
        <p14:creationId xmlns:p14="http://schemas.microsoft.com/office/powerpoint/2010/main" val="360820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062CD3F-4247-46B6-8D38-B590AA3A769D}" type="slidenum">
              <a:rPr lang="en-GB" smtClean="0"/>
              <a:t>10</a:t>
            </a:fld>
            <a:endParaRPr lang="en-GB"/>
          </a:p>
        </p:txBody>
      </p:sp>
    </p:spTree>
    <p:extLst>
      <p:ext uri="{BB962C8B-B14F-4D97-AF65-F5344CB8AC3E}">
        <p14:creationId xmlns:p14="http://schemas.microsoft.com/office/powerpoint/2010/main" val="2250506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062CD3F-4247-46B6-8D38-B590AA3A769D}" type="slidenum">
              <a:rPr lang="en-GB" smtClean="0"/>
              <a:t>19</a:t>
            </a:fld>
            <a:endParaRPr lang="en-GB"/>
          </a:p>
        </p:txBody>
      </p:sp>
    </p:spTree>
    <p:extLst>
      <p:ext uri="{BB962C8B-B14F-4D97-AF65-F5344CB8AC3E}">
        <p14:creationId xmlns:p14="http://schemas.microsoft.com/office/powerpoint/2010/main" val="4263715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As we saw</a:t>
                </a:r>
                <a:r>
                  <a:rPr lang="en-GB" baseline="0" dirty="0"/>
                  <a:t> previously, st</a:t>
                </a:r>
                <a:r>
                  <a:rPr lang="en-GB" dirty="0"/>
                  <a:t>acking </a:t>
                </a:r>
                <a14:m>
                  <m:oMath xmlns:m="http://schemas.openxmlformats.org/officeDocument/2006/math">
                    <m:r>
                      <a:rPr lang="en-GB" i="1" dirty="0" smtClean="0">
                        <a:latin typeface="Cambria Math" panose="02040503050406030204" pitchFamily="18" charset="0"/>
                      </a:rPr>
                      <m:t>𝑘</m:t>
                    </m:r>
                  </m:oMath>
                </a14:m>
                <a:r>
                  <a:rPr lang="en-GB" dirty="0"/>
                  <a:t> knots will cause the spline to pass through the associated control point.</a:t>
                </a:r>
              </a:p>
              <a:p>
                <a:r>
                  <a:rPr lang="en-GB" dirty="0"/>
                  <a:t>However:</a:t>
                </a:r>
              </a:p>
              <a:p>
                <a:pPr lvl="1"/>
                <a:r>
                  <a:rPr lang="en-GB" dirty="0"/>
                  <a:t>B-splines with no stacked knots are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𝑘</m:t>
                        </m:r>
                        <m:r>
                          <a:rPr lang="en-GB" b="0" i="1" smtClean="0">
                            <a:latin typeface="Cambria Math" panose="02040503050406030204" pitchFamily="18" charset="0"/>
                          </a:rPr>
                          <m:t>−1</m:t>
                        </m:r>
                      </m:sub>
                    </m:sSub>
                  </m:oMath>
                </a14:m>
                <a:r>
                  <a:rPr lang="en-GB" dirty="0"/>
                  <a:t> continuous</a:t>
                </a:r>
                <a:r>
                  <a:rPr lang="en-GB" baseline="0" dirty="0"/>
                  <a:t> across their knots. They are always entirely continuous between knots.</a:t>
                </a:r>
                <a:endParaRPr lang="en-GB" dirty="0"/>
              </a:p>
              <a:p>
                <a:pPr lvl="1"/>
                <a:r>
                  <a:rPr lang="en-GB" dirty="0"/>
                  <a:t>Each stacked knot reduces the continuity by 1, such that stacking </a:t>
                </a:r>
                <a14:m>
                  <m:oMath xmlns:m="http://schemas.openxmlformats.org/officeDocument/2006/math">
                    <m:r>
                      <a:rPr lang="en-GB" b="0" i="1" smtClean="0">
                        <a:latin typeface="Cambria Math" panose="02040503050406030204" pitchFamily="18" charset="0"/>
                      </a:rPr>
                      <m:t>𝑘</m:t>
                    </m:r>
                  </m:oMath>
                </a14:m>
                <a:r>
                  <a:rPr lang="en-GB" dirty="0"/>
                  <a:t> knots causes sharp turns in the spline.</a:t>
                </a:r>
              </a:p>
              <a:p>
                <a:pPr lvl="1"/>
                <a:r>
                  <a:rPr lang="en-GB" dirty="0"/>
                  <a:t>Stacking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+1</m:t>
                    </m:r>
                  </m:oMath>
                </a14:m>
                <a:r>
                  <a:rPr lang="en-GB" dirty="0"/>
                  <a:t> knots will make the spline discontinuous, essentially producing 2 separate splines.</a:t>
                </a:r>
              </a:p>
              <a:p>
                <a:pPr lvl="1"/>
                <a:r>
                  <a:rPr lang="en-GB" dirty="0"/>
                  <a:t>Hence knot stacking is generally only used for termination, i.e. making the spline pass through its start and end points</a:t>
                </a:r>
              </a:p>
              <a:p>
                <a:r>
                  <a:rPr lang="en-GB" dirty="0"/>
                  <a:t>Knot refinement is common. This is most often where each knot interval is bisected by another knot, and each control point span is bisected by another control point, which brings the spline closer to the control polyline, but simply could be adjusting the knots small amounts to get the desired shape</a:t>
                </a:r>
              </a:p>
              <a:p>
                <a:endParaRPr lang="en-GB" b="1" dirty="0"/>
              </a:p>
            </p:txBody>
          </p:sp>
        </mc:Choice>
        <mc:Fallback xmlns="">
          <p:sp>
            <p:nvSpPr>
              <p:cNvPr id="3" name="Notes Placeholder 2"/>
              <p:cNvSpPr>
                <a:spLocks noGrp="1"/>
              </p:cNvSpPr>
              <p:nvPr>
                <p:ph type="body" idx="1"/>
              </p:nvPr>
            </p:nvSpPr>
            <p:spPr/>
            <p:txBody>
              <a:bodyPr/>
              <a:lstStyle/>
              <a:p>
                <a:r>
                  <a:rPr lang="en-GB" dirty="0"/>
                  <a:t>As we saw</a:t>
                </a:r>
                <a:r>
                  <a:rPr lang="en-GB" baseline="0" dirty="0"/>
                  <a:t> previously, st</a:t>
                </a:r>
                <a:r>
                  <a:rPr lang="en-GB" dirty="0"/>
                  <a:t>acking </a:t>
                </a:r>
                <a:r>
                  <a:rPr lang="en-GB" i="0" dirty="0">
                    <a:latin typeface="Cambria Math" panose="02040503050406030204" pitchFamily="18" charset="0"/>
                  </a:rPr>
                  <a:t>𝑘</a:t>
                </a:r>
                <a:r>
                  <a:rPr lang="en-GB" dirty="0"/>
                  <a:t> knots will cause the spline to pass through the associated control point.</a:t>
                </a:r>
              </a:p>
              <a:p>
                <a:r>
                  <a:rPr lang="en-GB" dirty="0"/>
                  <a:t>However:</a:t>
                </a:r>
              </a:p>
              <a:p>
                <a:pPr lvl="1"/>
                <a:r>
                  <a:rPr lang="en-GB" dirty="0"/>
                  <a:t>B-splines with no stacked knots are </a:t>
                </a:r>
                <a:r>
                  <a:rPr lang="en-GB" b="0" i="0">
                    <a:latin typeface="Cambria Math" panose="02040503050406030204" pitchFamily="18" charset="0"/>
                  </a:rPr>
                  <a:t>𝐶_(𝑘−1)</a:t>
                </a:r>
                <a:r>
                  <a:rPr lang="en-GB" dirty="0"/>
                  <a:t> continuous</a:t>
                </a:r>
                <a:r>
                  <a:rPr lang="en-GB" baseline="0" dirty="0"/>
                  <a:t> across their knots. They are always entirely continuous between knots.</a:t>
                </a:r>
                <a:endParaRPr lang="en-GB" dirty="0"/>
              </a:p>
              <a:p>
                <a:pPr lvl="1"/>
                <a:r>
                  <a:rPr lang="en-GB" dirty="0"/>
                  <a:t>Each stacked knot reduces the continuity by 1, such that stacking </a:t>
                </a:r>
                <a:r>
                  <a:rPr lang="en-GB" b="0" i="0">
                    <a:latin typeface="Cambria Math" panose="02040503050406030204" pitchFamily="18" charset="0"/>
                  </a:rPr>
                  <a:t>𝑘</a:t>
                </a:r>
                <a:r>
                  <a:rPr lang="en-GB" dirty="0"/>
                  <a:t> knots causes sharp turns in the spline.</a:t>
                </a:r>
              </a:p>
              <a:p>
                <a:pPr lvl="1"/>
                <a:r>
                  <a:rPr lang="en-GB" dirty="0"/>
                  <a:t>Stacking </a:t>
                </a:r>
                <a:r>
                  <a:rPr lang="en-GB" b="0" i="0">
                    <a:latin typeface="Cambria Math" panose="02040503050406030204" pitchFamily="18" charset="0"/>
                  </a:rPr>
                  <a:t>𝑘+1</a:t>
                </a:r>
                <a:r>
                  <a:rPr lang="en-GB" dirty="0"/>
                  <a:t> knots will make the spline discontinuous, essentially producing 2 separate splines.</a:t>
                </a:r>
              </a:p>
              <a:p>
                <a:pPr lvl="1"/>
                <a:r>
                  <a:rPr lang="en-GB" dirty="0"/>
                  <a:t>Hence knot stacking is generally only used for termination, i.e. making the spline pass through its start and end points</a:t>
                </a:r>
              </a:p>
              <a:p>
                <a:r>
                  <a:rPr lang="en-GB" dirty="0"/>
                  <a:t>Knot refinement is common. This is most often where each knot interval is bisected by another knot, and each control point span is bisected by another control point, which brings the spline closer to the control polyline, but simply could be adjusting the knots small amounts to get the desired shape</a:t>
                </a:r>
              </a:p>
              <a:p>
                <a:endParaRPr lang="en-GB" b="1" dirty="0"/>
              </a:p>
            </p:txBody>
          </p:sp>
        </mc:Fallback>
      </mc:AlternateContent>
      <p:sp>
        <p:nvSpPr>
          <p:cNvPr id="4" name="Slide Number Placeholder 3"/>
          <p:cNvSpPr>
            <a:spLocks noGrp="1"/>
          </p:cNvSpPr>
          <p:nvPr>
            <p:ph type="sldNum" sz="quarter" idx="5"/>
          </p:nvPr>
        </p:nvSpPr>
        <p:spPr/>
        <p:txBody>
          <a:bodyPr/>
          <a:lstStyle/>
          <a:p>
            <a:fld id="{6062CD3F-4247-46B6-8D38-B590AA3A769D}" type="slidenum">
              <a:rPr lang="en-GB" smtClean="0"/>
              <a:t>21</a:t>
            </a:fld>
            <a:endParaRPr lang="en-GB"/>
          </a:p>
        </p:txBody>
      </p:sp>
    </p:spTree>
    <p:extLst>
      <p:ext uri="{BB962C8B-B14F-4D97-AF65-F5344CB8AC3E}">
        <p14:creationId xmlns:p14="http://schemas.microsoft.com/office/powerpoint/2010/main" val="1139575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Splines in multiple dimensions are just separate splines over the same knots vector</a:t>
            </a:r>
          </a:p>
        </p:txBody>
      </p:sp>
      <p:sp>
        <p:nvSpPr>
          <p:cNvPr id="4" name="Slide Number Placeholder 3"/>
          <p:cNvSpPr>
            <a:spLocks noGrp="1"/>
          </p:cNvSpPr>
          <p:nvPr>
            <p:ph type="sldNum" sz="quarter" idx="5"/>
          </p:nvPr>
        </p:nvSpPr>
        <p:spPr/>
        <p:txBody>
          <a:bodyPr/>
          <a:lstStyle/>
          <a:p>
            <a:fld id="{6062CD3F-4247-46B6-8D38-B590AA3A769D}" type="slidenum">
              <a:rPr lang="en-GB" smtClean="0"/>
              <a:t>22</a:t>
            </a:fld>
            <a:endParaRPr lang="en-GB"/>
          </a:p>
        </p:txBody>
      </p:sp>
    </p:spTree>
    <p:extLst>
      <p:ext uri="{BB962C8B-B14F-4D97-AF65-F5344CB8AC3E}">
        <p14:creationId xmlns:p14="http://schemas.microsoft.com/office/powerpoint/2010/main" val="2947002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Splines in multiple dimensions are just separate splines over the same knots vector</a:t>
            </a:r>
          </a:p>
        </p:txBody>
      </p:sp>
      <p:sp>
        <p:nvSpPr>
          <p:cNvPr id="4" name="Slide Number Placeholder 3"/>
          <p:cNvSpPr>
            <a:spLocks noGrp="1"/>
          </p:cNvSpPr>
          <p:nvPr>
            <p:ph type="sldNum" sz="quarter" idx="5"/>
          </p:nvPr>
        </p:nvSpPr>
        <p:spPr/>
        <p:txBody>
          <a:bodyPr/>
          <a:lstStyle/>
          <a:p>
            <a:fld id="{6062CD3F-4247-46B6-8D38-B590AA3A769D}" type="slidenum">
              <a:rPr lang="en-GB" smtClean="0"/>
              <a:t>23</a:t>
            </a:fld>
            <a:endParaRPr lang="en-GB"/>
          </a:p>
        </p:txBody>
      </p:sp>
    </p:spTree>
    <p:extLst>
      <p:ext uri="{BB962C8B-B14F-4D97-AF65-F5344CB8AC3E}">
        <p14:creationId xmlns:p14="http://schemas.microsoft.com/office/powerpoint/2010/main" val="2721026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0AC00-87C5-D23E-83C5-A1FE1F1A27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4F13018-919F-7859-E82B-C947E54E3F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EED3F97-B835-6989-EBAF-788AC5D33617}"/>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5" name="Footer Placeholder 4">
            <a:extLst>
              <a:ext uri="{FF2B5EF4-FFF2-40B4-BE49-F238E27FC236}">
                <a16:creationId xmlns:a16="http://schemas.microsoft.com/office/drawing/2014/main" id="{57B0C637-E156-7CDB-8882-B86A1530D7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DD6A71-41AC-5029-BF53-B038D1460343}"/>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1293425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E1A8-2DF7-EB6B-CC86-DDBC5E0DD5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F4C7572-36D5-E5EA-A109-9A7BF60F72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112EEC-A756-6F2A-79BC-B5AA81A1F88E}"/>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5" name="Footer Placeholder 4">
            <a:extLst>
              <a:ext uri="{FF2B5EF4-FFF2-40B4-BE49-F238E27FC236}">
                <a16:creationId xmlns:a16="http://schemas.microsoft.com/office/drawing/2014/main" id="{9EEFC71B-74EA-1208-7443-C50D437C33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950C0A-CC26-47DA-BF24-578E030E6662}"/>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858642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C3CDD-2B77-6471-833F-0CB84FBE1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0530F62-9A93-A302-1BE0-4A745769AA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C31C7F-A646-AF34-4001-E8AA55ECA78D}"/>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5" name="Footer Placeholder 4">
            <a:extLst>
              <a:ext uri="{FF2B5EF4-FFF2-40B4-BE49-F238E27FC236}">
                <a16:creationId xmlns:a16="http://schemas.microsoft.com/office/drawing/2014/main" id="{742D695C-50DF-F926-B7D1-7FB981EAA7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F08560-2A63-AC92-A5D1-EC72AA726956}"/>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2134669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3AB6-2B68-9BCC-7610-1FF6E11B657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D09F60-8467-B533-71D0-35BBE6D1AA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73686A2-796D-93F9-136F-EBA843CF31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C204CB9-3D19-4715-D219-B2FB0EB8DA85}"/>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6" name="Footer Placeholder 5">
            <a:extLst>
              <a:ext uri="{FF2B5EF4-FFF2-40B4-BE49-F238E27FC236}">
                <a16:creationId xmlns:a16="http://schemas.microsoft.com/office/drawing/2014/main" id="{59B59014-1B91-E577-E83B-694D177068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70FD157-24BA-F89F-48F8-CFBF9A42EB08}"/>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482473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73AD-3F92-6038-472D-085C57D404C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EA53CA6-42D9-EC28-0152-6F3EBD53F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643327-72C1-E3DD-66C0-7229C6CB54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9BC7E38-C026-0AB1-ED19-5473405B34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A624B3-0B0F-A6AE-4BC6-5F6E9B87CF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4A6CCB5-E881-6A5E-3EDC-1FFB7047FD13}"/>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8" name="Footer Placeholder 7">
            <a:extLst>
              <a:ext uri="{FF2B5EF4-FFF2-40B4-BE49-F238E27FC236}">
                <a16:creationId xmlns:a16="http://schemas.microsoft.com/office/drawing/2014/main" id="{F10641F8-F0BB-A89D-B5E0-11AB8CFC06F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EC5FF24-462B-60FE-5685-2518562FFCFE}"/>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1503980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B6AF7-BDC7-9B97-6C49-306BE13D17A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EA84EB6-CAD9-ABE1-C7FE-D484284D8D3E}"/>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4" name="Footer Placeholder 3">
            <a:extLst>
              <a:ext uri="{FF2B5EF4-FFF2-40B4-BE49-F238E27FC236}">
                <a16:creationId xmlns:a16="http://schemas.microsoft.com/office/drawing/2014/main" id="{69BB5395-A6A7-6485-A118-37141095FE7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34CAC1A-3AF9-2353-324B-03B0513563DC}"/>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4153358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2359E8-6A9C-6EAC-6B3E-E26EE2739AC4}"/>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3" name="Footer Placeholder 2">
            <a:extLst>
              <a:ext uri="{FF2B5EF4-FFF2-40B4-BE49-F238E27FC236}">
                <a16:creationId xmlns:a16="http://schemas.microsoft.com/office/drawing/2014/main" id="{D0696982-9E99-5EBE-E5BE-15D8C32EBB0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190BCEE-6326-2E29-3C70-5EA776496874}"/>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492078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74DE-B311-B4C5-8C42-C1A9BFE4E1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97305E4-5709-E83B-F9EA-5239702F9E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C65C7F4-0F78-5EF7-2D2C-849D76740F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5B6190-E266-7A85-3608-3BC44E30E12C}"/>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6" name="Footer Placeholder 5">
            <a:extLst>
              <a:ext uri="{FF2B5EF4-FFF2-40B4-BE49-F238E27FC236}">
                <a16:creationId xmlns:a16="http://schemas.microsoft.com/office/drawing/2014/main" id="{5B966632-4C78-FD47-7A7D-1B0E998694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B6C5EB1-8581-8EBA-7591-CC2B4AEAE759}"/>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210028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141AA-DE73-8B46-EF0C-96BD9418BD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52775FA-AF66-D8DE-F397-C5C4BE8624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BF8940-A057-CD22-61DD-328FDECB45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966A38-E5DD-729C-3B09-87512E42BD94}"/>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6" name="Footer Placeholder 5">
            <a:extLst>
              <a:ext uri="{FF2B5EF4-FFF2-40B4-BE49-F238E27FC236}">
                <a16:creationId xmlns:a16="http://schemas.microsoft.com/office/drawing/2014/main" id="{65138F98-BFE3-F9EB-E1A1-5059E638F9F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63D866E-6178-78BE-1F74-F0E5E752F70A}"/>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2162368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9EBC3-FF80-0952-AC7B-B6CC6C882C4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32FDE4-33E0-3963-68E1-4B0E8A9B3B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D5AA5F-D8E5-235F-97A3-B36CC5F57D20}"/>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5" name="Footer Placeholder 4">
            <a:extLst>
              <a:ext uri="{FF2B5EF4-FFF2-40B4-BE49-F238E27FC236}">
                <a16:creationId xmlns:a16="http://schemas.microsoft.com/office/drawing/2014/main" id="{14335EAC-F7AA-89A5-3DF7-BAECBCC2A8B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45A88B-9516-EF6B-EE82-E98B27879C94}"/>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695599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D8DD4-AFFB-6921-F1EA-0C9026D770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23931A4-3E70-AA6E-1796-A74C13258E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B94A2A-74EF-6910-20AE-3CDB8B817379}"/>
              </a:ext>
            </a:extLst>
          </p:cNvPr>
          <p:cNvSpPr>
            <a:spLocks noGrp="1"/>
          </p:cNvSpPr>
          <p:nvPr>
            <p:ph type="dt" sz="half" idx="10"/>
          </p:nvPr>
        </p:nvSpPr>
        <p:spPr/>
        <p:txBody>
          <a:bodyPr/>
          <a:lstStyle/>
          <a:p>
            <a:fld id="{D3BE716D-0128-44B1-8F90-2D3F0F7DE086}" type="datetimeFigureOut">
              <a:rPr lang="en-GB" smtClean="0"/>
              <a:t>07/07/2023</a:t>
            </a:fld>
            <a:endParaRPr lang="en-GB"/>
          </a:p>
        </p:txBody>
      </p:sp>
      <p:sp>
        <p:nvSpPr>
          <p:cNvPr id="5" name="Footer Placeholder 4">
            <a:extLst>
              <a:ext uri="{FF2B5EF4-FFF2-40B4-BE49-F238E27FC236}">
                <a16:creationId xmlns:a16="http://schemas.microsoft.com/office/drawing/2014/main" id="{EFB1D9D3-43C8-B116-F70E-DBA6A6623C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2AE90E-2DAA-C4BB-D927-132D45E54628}"/>
              </a:ext>
            </a:extLst>
          </p:cNvPr>
          <p:cNvSpPr>
            <a:spLocks noGrp="1"/>
          </p:cNvSpPr>
          <p:nvPr>
            <p:ph type="sldNum" sz="quarter" idx="12"/>
          </p:nvPr>
        </p:nvSpPr>
        <p:spPr/>
        <p:txBody>
          <a:bodyPr/>
          <a:lstStyle/>
          <a:p>
            <a:fld id="{0AB1F414-DA67-4F71-977E-4468292F3C91}" type="slidenum">
              <a:rPr lang="en-GB" smtClean="0"/>
              <a:t>‹#›</a:t>
            </a:fld>
            <a:endParaRPr lang="en-GB"/>
          </a:p>
        </p:txBody>
      </p:sp>
    </p:spTree>
    <p:extLst>
      <p:ext uri="{BB962C8B-B14F-4D97-AF65-F5344CB8AC3E}">
        <p14:creationId xmlns:p14="http://schemas.microsoft.com/office/powerpoint/2010/main" val="4028786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A8F4CA-71DF-9DB8-6B74-90ACFB20E2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D50F7A-9EE0-6093-EE64-BC922355E3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40FC30-31CD-52EA-C73C-AF45FEDA9D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BE716D-0128-44B1-8F90-2D3F0F7DE086}" type="datetimeFigureOut">
              <a:rPr lang="en-GB" smtClean="0"/>
              <a:t>07/07/2023</a:t>
            </a:fld>
            <a:endParaRPr lang="en-GB"/>
          </a:p>
        </p:txBody>
      </p:sp>
      <p:sp>
        <p:nvSpPr>
          <p:cNvPr id="5" name="Footer Placeholder 4">
            <a:extLst>
              <a:ext uri="{FF2B5EF4-FFF2-40B4-BE49-F238E27FC236}">
                <a16:creationId xmlns:a16="http://schemas.microsoft.com/office/drawing/2014/main" id="{5DCC30BD-EAB2-CE22-2367-8EC55CC89A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EE3EA08-B956-78D5-1A49-520E3C77B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B1F414-DA67-4F71-977E-4468292F3C91}" type="slidenum">
              <a:rPr lang="en-GB" smtClean="0"/>
              <a:t>‹#›</a:t>
            </a:fld>
            <a:endParaRPr lang="en-GB"/>
          </a:p>
        </p:txBody>
      </p:sp>
    </p:spTree>
    <p:extLst>
      <p:ext uri="{BB962C8B-B14F-4D97-AF65-F5344CB8AC3E}">
        <p14:creationId xmlns:p14="http://schemas.microsoft.com/office/powerpoint/2010/main" val="419769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0.png"/><Relationship Id="rId11" Type="http://schemas.openxmlformats.org/officeDocument/2006/relationships/image" Target="../media/image23.png"/><Relationship Id="rId5" Type="http://schemas.openxmlformats.org/officeDocument/2006/relationships/image" Target="../media/image170.png"/><Relationship Id="rId10" Type="http://schemas.openxmlformats.org/officeDocument/2006/relationships/image" Target="../media/image22.png"/><Relationship Id="rId4" Type="http://schemas.openxmlformats.org/officeDocument/2006/relationships/image" Target="../media/image160.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0.png"/><Relationship Id="rId7" Type="http://schemas.openxmlformats.org/officeDocument/2006/relationships/image" Target="../media/image28.png"/><Relationship Id="rId2"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80.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7432-22EB-9337-99EC-DC1C46317F82}"/>
              </a:ext>
            </a:extLst>
          </p:cNvPr>
          <p:cNvSpPr>
            <a:spLocks noGrp="1"/>
          </p:cNvSpPr>
          <p:nvPr>
            <p:ph type="ctrTitle"/>
          </p:nvPr>
        </p:nvSpPr>
        <p:spPr/>
        <p:txBody>
          <a:bodyPr/>
          <a:lstStyle/>
          <a:p>
            <a:r>
              <a:rPr lang="en-GB" dirty="0"/>
              <a:t>B-splines	</a:t>
            </a:r>
          </a:p>
        </p:txBody>
      </p:sp>
      <p:sp>
        <p:nvSpPr>
          <p:cNvPr id="3" name="Subtitle 2">
            <a:extLst>
              <a:ext uri="{FF2B5EF4-FFF2-40B4-BE49-F238E27FC236}">
                <a16:creationId xmlns:a16="http://schemas.microsoft.com/office/drawing/2014/main" id="{84D3096E-FF54-9BAC-0664-A3CCE9EDD6AD}"/>
              </a:ext>
            </a:extLst>
          </p:cNvPr>
          <p:cNvSpPr>
            <a:spLocks noGrp="1"/>
          </p:cNvSpPr>
          <p:nvPr>
            <p:ph type="subTitle" idx="1"/>
          </p:nvPr>
        </p:nvSpPr>
        <p:spPr/>
        <p:txBody>
          <a:bodyPr/>
          <a:lstStyle/>
          <a:p>
            <a:r>
              <a:rPr lang="en-GB" dirty="0"/>
              <a:t>Tutorial 1 - Introduction</a:t>
            </a:r>
          </a:p>
        </p:txBody>
      </p:sp>
    </p:spTree>
    <p:extLst>
      <p:ext uri="{BB962C8B-B14F-4D97-AF65-F5344CB8AC3E}">
        <p14:creationId xmlns:p14="http://schemas.microsoft.com/office/powerpoint/2010/main" val="3025929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08B2-3D7E-6101-8D1B-AAB777E4712D}"/>
              </a:ext>
            </a:extLst>
          </p:cNvPr>
          <p:cNvSpPr>
            <a:spLocks noGrp="1"/>
          </p:cNvSpPr>
          <p:nvPr>
            <p:ph type="title"/>
          </p:nvPr>
        </p:nvSpPr>
        <p:spPr/>
        <p:txBody>
          <a:bodyPr/>
          <a:lstStyle/>
          <a:p>
            <a:r>
              <a:rPr lang="en-GB" dirty="0"/>
              <a:t>B-splines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B3F235-44E1-4AD7-A709-1AFC43895EB9}"/>
                  </a:ext>
                </a:extLst>
              </p:cNvPr>
              <p:cNvSpPr>
                <a:spLocks noGrp="1"/>
              </p:cNvSpPr>
              <p:nvPr>
                <p:ph idx="1"/>
              </p:nvPr>
            </p:nvSpPr>
            <p:spPr/>
            <p:txBody>
              <a:bodyPr>
                <a:normAutofit lnSpcReduction="10000"/>
              </a:bodyPr>
              <a:lstStyle/>
              <a:p>
                <a:r>
                  <a:rPr lang="en-GB" dirty="0"/>
                  <a:t>B-splines were created to be a tool for computer aided design.</a:t>
                </a:r>
              </a:p>
              <a:p>
                <a:r>
                  <a:rPr lang="en-GB" dirty="0"/>
                  <a:t>They were designed to be intuitive to designers and artists who might not have a mathematical background.</a:t>
                </a:r>
              </a:p>
              <a:p>
                <a:r>
                  <a:rPr lang="en-GB" dirty="0"/>
                  <a:t>They allow the creation of flexible curves in any number of dimensions.</a:t>
                </a:r>
              </a:p>
              <a:p>
                <a:r>
                  <a:rPr lang="en-GB" dirty="0"/>
                  <a:t>They are polynomial functions in a variable, </a:t>
                </a:r>
                <a14:m>
                  <m:oMath xmlns:m="http://schemas.openxmlformats.org/officeDocument/2006/math">
                    <m:r>
                      <a:rPr lang="en-GB" b="0" i="1" smtClean="0">
                        <a:latin typeface="Cambria Math" panose="02040503050406030204" pitchFamily="18" charset="0"/>
                      </a:rPr>
                      <m:t>𝑡</m:t>
                    </m:r>
                  </m:oMath>
                </a14:m>
                <a:endParaRPr lang="en-GB" dirty="0"/>
              </a:p>
              <a:p>
                <a:r>
                  <a:rPr lang="en-GB" dirty="0"/>
                  <a:t>Their inputs are:</a:t>
                </a:r>
              </a:p>
              <a:p>
                <a:pPr lvl="1"/>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+1</m:t>
                    </m:r>
                  </m:oMath>
                </a14:m>
                <a:r>
                  <a:rPr lang="en-GB" dirty="0"/>
                  <a:t> Control Points, </a:t>
                </a:r>
                <a14:m>
                  <m:oMath xmlns:m="http://schemas.openxmlformats.org/officeDocument/2006/math">
                    <m:r>
                      <a:rPr lang="en-GB" b="1" i="0" smtClean="0">
                        <a:latin typeface="Cambria Math" panose="02040503050406030204" pitchFamily="18" charset="0"/>
                      </a:rPr>
                      <m:t>𝐏</m:t>
                    </m:r>
                    <m:r>
                      <a:rPr lang="en-GB" b="1" i="0"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1" i="0" smtClean="0">
                                <a:latin typeface="Cambria Math" panose="02040503050406030204" pitchFamily="18" charset="0"/>
                              </a:rPr>
                              <m:t>𝐩</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3</m:t>
                            </m:r>
                          </m:sub>
                        </m:sSub>
                        <m:r>
                          <a:rPr lang="en-GB" i="1">
                            <a:latin typeface="Cambria Math" panose="02040503050406030204" pitchFamily="18" charset="0"/>
                          </a:rPr>
                          <m:t>,</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𝑛</m:t>
                            </m:r>
                          </m:sub>
                        </m:sSub>
                      </m:e>
                    </m:d>
                  </m:oMath>
                </a14:m>
                <a:endParaRPr lang="en-GB" b="0" dirty="0"/>
              </a:p>
              <a:p>
                <a:pPr lvl="1"/>
                <a14:m>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+1</m:t>
                    </m:r>
                  </m:oMath>
                </a14:m>
                <a:r>
                  <a:rPr lang="en-GB" dirty="0"/>
                  <a:t> Knots, </a:t>
                </a:r>
                <a14:m>
                  <m:oMath xmlns:m="http://schemas.openxmlformats.org/officeDocument/2006/math">
                    <m:r>
                      <a:rPr lang="en-GB" b="1" i="0" smtClean="0">
                        <a:latin typeface="Cambria Math" panose="02040503050406030204" pitchFamily="18" charset="0"/>
                      </a:rPr>
                      <m:t>𝐓</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3</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e>
                    </m:d>
                  </m:oMath>
                </a14:m>
                <a:endParaRPr lang="en-GB" b="0" dirty="0"/>
              </a:p>
              <a:p>
                <a:pPr lvl="1"/>
                <a:r>
                  <a:rPr lang="en-GB" dirty="0"/>
                  <a:t>Spline degree, </a:t>
                </a:r>
                <a14:m>
                  <m:oMath xmlns:m="http://schemas.openxmlformats.org/officeDocument/2006/math">
                    <m:r>
                      <a:rPr lang="en-GB" b="0" i="1" smtClean="0">
                        <a:latin typeface="Cambria Math" panose="02040503050406030204" pitchFamily="18" charset="0"/>
                      </a:rPr>
                      <m:t>𝑑</m:t>
                    </m:r>
                  </m:oMath>
                </a14:m>
                <a:endParaRPr lang="en-GB" dirty="0"/>
              </a:p>
            </p:txBody>
          </p:sp>
        </mc:Choice>
        <mc:Fallback>
          <p:sp>
            <p:nvSpPr>
              <p:cNvPr id="3" name="Content Placeholder 2">
                <a:extLst>
                  <a:ext uri="{FF2B5EF4-FFF2-40B4-BE49-F238E27FC236}">
                    <a16:creationId xmlns:a16="http://schemas.microsoft.com/office/drawing/2014/main" id="{ABB3F235-44E1-4AD7-A709-1AFC43895EB9}"/>
                  </a:ext>
                </a:extLst>
              </p:cNvPr>
              <p:cNvSpPr>
                <a:spLocks noGrp="1" noRot="1" noChangeAspect="1" noMove="1" noResize="1" noEditPoints="1" noAdjustHandles="1" noChangeArrowheads="1" noChangeShapeType="1" noTextEdit="1"/>
              </p:cNvSpPr>
              <p:nvPr>
                <p:ph idx="1"/>
              </p:nvPr>
            </p:nvSpPr>
            <p:spPr>
              <a:blipFill>
                <a:blip r:embed="rId2"/>
                <a:stretch>
                  <a:fillRect l="-1043" t="-3081" r="-1275"/>
                </a:stretch>
              </a:blipFill>
            </p:spPr>
            <p:txBody>
              <a:bodyPr/>
              <a:lstStyle/>
              <a:p>
                <a:r>
                  <a:rPr lang="en-GB">
                    <a:noFill/>
                  </a:rPr>
                  <a:t> </a:t>
                </a:r>
              </a:p>
            </p:txBody>
          </p:sp>
        </mc:Fallback>
      </mc:AlternateContent>
    </p:spTree>
    <p:extLst>
      <p:ext uri="{BB962C8B-B14F-4D97-AF65-F5344CB8AC3E}">
        <p14:creationId xmlns:p14="http://schemas.microsoft.com/office/powerpoint/2010/main" val="2399766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9B38-AA30-C09A-11D8-8280BDCE58F4}"/>
              </a:ext>
            </a:extLst>
          </p:cNvPr>
          <p:cNvSpPr>
            <a:spLocks noGrp="1"/>
          </p:cNvSpPr>
          <p:nvPr>
            <p:ph type="title"/>
          </p:nvPr>
        </p:nvSpPr>
        <p:spPr/>
        <p:txBody>
          <a:bodyPr/>
          <a:lstStyle/>
          <a:p>
            <a:r>
              <a:rPr lang="en-GB" dirty="0"/>
              <a:t>B-Spline inputs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94ACA0-A6B9-9B8B-B49A-BFF16914C79D}"/>
                  </a:ext>
                </a:extLst>
              </p:cNvPr>
              <p:cNvSpPr>
                <a:spLocks noGrp="1"/>
              </p:cNvSpPr>
              <p:nvPr>
                <p:ph idx="1"/>
              </p:nvPr>
            </p:nvSpPr>
            <p:spPr/>
            <p:txBody>
              <a:bodyPr>
                <a:normAutofit lnSpcReduction="10000"/>
              </a:bodyPr>
              <a:lstStyle/>
              <a:p>
                <a:r>
                  <a:rPr lang="en-GB" dirty="0"/>
                  <a:t>The control points </a:t>
                </a:r>
                <a14:m>
                  <m:oMath xmlns:m="http://schemas.openxmlformats.org/officeDocument/2006/math">
                    <m:r>
                      <a:rPr lang="en-GB" b="1" i="0" smtClean="0">
                        <a:latin typeface="Cambria Math" panose="02040503050406030204" pitchFamily="18" charset="0"/>
                      </a:rPr>
                      <m:t>𝐏</m:t>
                    </m:r>
                    <m:r>
                      <a:rPr lang="en-GB" b="1" i="0"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1" i="0" smtClean="0">
                                <a:latin typeface="Cambria Math" panose="02040503050406030204" pitchFamily="18" charset="0"/>
                              </a:rPr>
                              <m:t>𝐩</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3</m:t>
                            </m:r>
                          </m:sub>
                        </m:sSub>
                        <m:r>
                          <a:rPr lang="en-GB" i="1">
                            <a:latin typeface="Cambria Math" panose="02040503050406030204" pitchFamily="18" charset="0"/>
                          </a:rPr>
                          <m:t>,</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b="0" i="1" smtClean="0">
                                <a:latin typeface="Cambria Math" panose="02040503050406030204" pitchFamily="18" charset="0"/>
                              </a:rPr>
                              <m:t>𝑛</m:t>
                            </m:r>
                          </m:sub>
                        </m:sSub>
                      </m:e>
                    </m:d>
                  </m:oMath>
                </a14:m>
                <a:r>
                  <a:rPr lang="en-GB" dirty="0"/>
                  <a:t> are the primary input used to shape the spline. The spline will interpolate the control points in an intuitive manner.</a:t>
                </a:r>
              </a:p>
              <a:p>
                <a:r>
                  <a:rPr lang="en-GB" dirty="0"/>
                  <a:t>The relative position of the knots,</a:t>
                </a:r>
                <a:r>
                  <a:rPr lang="en-GB" b="1" dirty="0"/>
                  <a:t> </a:t>
                </a:r>
                <a14:m>
                  <m:oMath xmlns:m="http://schemas.openxmlformats.org/officeDocument/2006/math">
                    <m:r>
                      <a:rPr lang="en-GB" b="1" i="0" smtClean="0">
                        <a:latin typeface="Cambria Math" panose="02040503050406030204" pitchFamily="18" charset="0"/>
                      </a:rPr>
                      <m:t>𝐓</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3</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e>
                    </m:d>
                    <m:r>
                      <a:rPr lang="en-GB" b="0" i="0" smtClean="0">
                        <a:latin typeface="Cambria Math" panose="02040503050406030204" pitchFamily="18" charset="0"/>
                      </a:rPr>
                      <m:t>,</m:t>
                    </m:r>
                  </m:oMath>
                </a14:m>
                <a:r>
                  <a:rPr lang="en-GB" dirty="0"/>
                  <a:t> determine the exact shape of the curve and can be used to pull the spline towards certain control points.</a:t>
                </a:r>
              </a:p>
              <a:p>
                <a:r>
                  <a:rPr lang="en-GB" dirty="0"/>
                  <a:t>The degree </a:t>
                </a:r>
                <a14:m>
                  <m:oMath xmlns:m="http://schemas.openxmlformats.org/officeDocument/2006/math">
                    <m:r>
                      <a:rPr lang="en-GB" b="0" i="1" smtClean="0">
                        <a:latin typeface="Cambria Math" panose="02040503050406030204" pitchFamily="18" charset="0"/>
                      </a:rPr>
                      <m:t>𝐾</m:t>
                    </m:r>
                  </m:oMath>
                </a14:m>
                <a:r>
                  <a:rPr lang="en-GB" dirty="0"/>
                  <a:t> sets the order of the constituent polynomials. Higher degree splines have higher continuity but pass less close to the control points.</a:t>
                </a:r>
              </a:p>
              <a:p>
                <a:r>
                  <a:rPr lang="en-GB" dirty="0"/>
                  <a:t>The number of knots is related to the number of control points and the degree: </a:t>
                </a:r>
                <a14:m>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+1</m:t>
                    </m:r>
                  </m:oMath>
                </a14:m>
                <a:endParaRPr lang="en-GB" dirty="0"/>
              </a:p>
            </p:txBody>
          </p:sp>
        </mc:Choice>
        <mc:Fallback>
          <p:sp>
            <p:nvSpPr>
              <p:cNvPr id="3" name="Content Placeholder 2">
                <a:extLst>
                  <a:ext uri="{FF2B5EF4-FFF2-40B4-BE49-F238E27FC236}">
                    <a16:creationId xmlns:a16="http://schemas.microsoft.com/office/drawing/2014/main" id="{D294ACA0-A6B9-9B8B-B49A-BFF16914C79D}"/>
                  </a:ext>
                </a:extLst>
              </p:cNvPr>
              <p:cNvSpPr>
                <a:spLocks noGrp="1" noRot="1" noChangeAspect="1" noMove="1" noResize="1" noEditPoints="1" noAdjustHandles="1" noChangeArrowheads="1" noChangeShapeType="1" noTextEdit="1"/>
              </p:cNvSpPr>
              <p:nvPr>
                <p:ph idx="1"/>
              </p:nvPr>
            </p:nvSpPr>
            <p:spPr>
              <a:blipFill>
                <a:blip r:embed="rId2"/>
                <a:stretch>
                  <a:fillRect l="-1043" t="-3081" r="-1507" b="-1401"/>
                </a:stretch>
              </a:blipFill>
            </p:spPr>
            <p:txBody>
              <a:bodyPr/>
              <a:lstStyle/>
              <a:p>
                <a:r>
                  <a:rPr lang="en-GB">
                    <a:noFill/>
                  </a:rPr>
                  <a:t> </a:t>
                </a:r>
              </a:p>
            </p:txBody>
          </p:sp>
        </mc:Fallback>
      </mc:AlternateContent>
    </p:spTree>
    <p:extLst>
      <p:ext uri="{BB962C8B-B14F-4D97-AF65-F5344CB8AC3E}">
        <p14:creationId xmlns:p14="http://schemas.microsoft.com/office/powerpoint/2010/main" val="585793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65CD2-6638-FEF7-2A59-73228449987C}"/>
              </a:ext>
            </a:extLst>
          </p:cNvPr>
          <p:cNvSpPr>
            <a:spLocks noGrp="1"/>
          </p:cNvSpPr>
          <p:nvPr>
            <p:ph type="title"/>
          </p:nvPr>
        </p:nvSpPr>
        <p:spPr/>
        <p:txBody>
          <a:bodyPr/>
          <a:lstStyle/>
          <a:p>
            <a:r>
              <a:rPr lang="en-GB" dirty="0"/>
              <a:t>B-splines</a:t>
            </a:r>
          </a:p>
        </p:txBody>
      </p:sp>
      <p:pic>
        <p:nvPicPr>
          <p:cNvPr id="6" name="Picture 5" descr="A picture containing text, diagram, screenshot, line&#10;&#10;Description automatically generated">
            <a:extLst>
              <a:ext uri="{FF2B5EF4-FFF2-40B4-BE49-F238E27FC236}">
                <a16:creationId xmlns:a16="http://schemas.microsoft.com/office/drawing/2014/main" id="{AD5BB190-B092-F3DD-55AF-D88A0B02BCED}"/>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4652" t="5627" b="17232"/>
          <a:stretch/>
        </p:blipFill>
        <p:spPr>
          <a:xfrm>
            <a:off x="336110" y="1375395"/>
            <a:ext cx="5250025" cy="5042483"/>
          </a:xfrm>
          <a:prstGeom prst="rect">
            <a:avLst/>
          </a:prstGeom>
        </p:spPr>
      </p:pic>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AA3E555E-BDE3-B96F-9DF5-209C1B5AD33D}"/>
                  </a:ext>
                </a:extLst>
              </p:cNvPr>
              <p:cNvSpPr txBox="1">
                <a:spLocks/>
              </p:cNvSpPr>
              <p:nvPr/>
            </p:nvSpPr>
            <p:spPr>
              <a:xfrm>
                <a:off x="4716339" y="2577424"/>
                <a:ext cx="6869777" cy="38689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Each section of the spline is influenced by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+1</m:t>
                    </m:r>
                  </m:oMath>
                </a14:m>
                <a:r>
                  <a:rPr lang="en-GB" dirty="0"/>
                  <a:t> control points as shown. </a:t>
                </a:r>
              </a:p>
              <a:p>
                <a:r>
                  <a:rPr lang="en-GB" dirty="0"/>
                  <a:t>Knots are the values of the parameter </a:t>
                </a:r>
                <a14:m>
                  <m:oMath xmlns:m="http://schemas.openxmlformats.org/officeDocument/2006/math">
                    <m:r>
                      <a:rPr lang="en-GB" b="0" i="1" smtClean="0">
                        <a:latin typeface="Cambria Math" panose="02040503050406030204" pitchFamily="18" charset="0"/>
                      </a:rPr>
                      <m:t>𝑡</m:t>
                    </m:r>
                  </m:oMath>
                </a14:m>
                <a:r>
                  <a:rPr lang="en-GB" dirty="0"/>
                  <a:t> where these sections meet. </a:t>
                </a:r>
              </a:p>
              <a:p>
                <a:r>
                  <a:rPr lang="en-GB" dirty="0"/>
                  <a:t>The spline is only defined for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𝑑</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𝑡</m:t>
                        </m:r>
                      </m:e>
                      <m:sub>
                        <m:r>
                          <a:rPr lang="en-GB" b="0" i="1" smtClean="0">
                            <a:latin typeface="Cambria Math" panose="02040503050406030204" pitchFamily="18" charset="0"/>
                            <a:ea typeface="Cambria Math" panose="02040503050406030204" pitchFamily="18" charset="0"/>
                          </a:rPr>
                          <m:t>𝑚</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sub>
                    </m:sSub>
                  </m:oMath>
                </a14:m>
                <a:endParaRPr lang="en-GB" dirty="0"/>
              </a:p>
            </p:txBody>
          </p:sp>
        </mc:Choice>
        <mc:Fallback>
          <p:sp>
            <p:nvSpPr>
              <p:cNvPr id="7" name="Content Placeholder 2">
                <a:extLst>
                  <a:ext uri="{FF2B5EF4-FFF2-40B4-BE49-F238E27FC236}">
                    <a16:creationId xmlns:a16="http://schemas.microsoft.com/office/drawing/2014/main" id="{AA3E555E-BDE3-B96F-9DF5-209C1B5AD33D}"/>
                  </a:ext>
                </a:extLst>
              </p:cNvPr>
              <p:cNvSpPr txBox="1">
                <a:spLocks noRot="1" noChangeAspect="1" noMove="1" noResize="1" noEditPoints="1" noAdjustHandles="1" noChangeArrowheads="1" noChangeShapeType="1" noTextEdit="1"/>
              </p:cNvSpPr>
              <p:nvPr/>
            </p:nvSpPr>
            <p:spPr>
              <a:xfrm>
                <a:off x="4716339" y="2577424"/>
                <a:ext cx="6869777" cy="3868901"/>
              </a:xfrm>
              <a:prstGeom prst="rect">
                <a:avLst/>
              </a:prstGeom>
              <a:blipFill>
                <a:blip r:embed="rId4"/>
                <a:stretch>
                  <a:fillRect l="-1597" t="-26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B4C6427-A8A9-58F8-4A8C-C7180C95D468}"/>
                  </a:ext>
                </a:extLst>
              </p:cNvPr>
              <p:cNvSpPr txBox="1"/>
              <p:nvPr/>
            </p:nvSpPr>
            <p:spPr>
              <a:xfrm>
                <a:off x="1104445" y="4324086"/>
                <a:ext cx="880946" cy="3755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P</m:t>
                          </m:r>
                        </m:e>
                        <m:sub>
                          <m:r>
                            <a:rPr lang="en-GB" b="0" i="0" smtClean="0">
                              <a:latin typeface="Cambria Math" panose="02040503050406030204" pitchFamily="18" charset="0"/>
                            </a:rPr>
                            <m:t>0</m:t>
                          </m:r>
                        </m:sub>
                      </m:sSub>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P</m:t>
                          </m:r>
                        </m:e>
                        <m:sub>
                          <m:r>
                            <a:rPr lang="en-GB" b="0" i="0" smtClean="0">
                              <a:latin typeface="Cambria Math" panose="02040503050406030204" pitchFamily="18" charset="0"/>
                            </a:rPr>
                            <m:t>2</m:t>
                          </m:r>
                        </m:sub>
                      </m:sSub>
                    </m:oMath>
                  </m:oMathPara>
                </a14:m>
                <a:endParaRPr lang="en-GB" dirty="0"/>
              </a:p>
            </p:txBody>
          </p:sp>
        </mc:Choice>
        <mc:Fallback xmlns="">
          <p:sp>
            <p:nvSpPr>
              <p:cNvPr id="8" name="TextBox 7">
                <a:extLst>
                  <a:ext uri="{FF2B5EF4-FFF2-40B4-BE49-F238E27FC236}">
                    <a16:creationId xmlns:a16="http://schemas.microsoft.com/office/drawing/2014/main" id="{4B4C6427-A8A9-58F8-4A8C-C7180C95D468}"/>
                  </a:ext>
                </a:extLst>
              </p:cNvPr>
              <p:cNvSpPr txBox="1">
                <a:spLocks noRot="1" noChangeAspect="1" noMove="1" noResize="1" noEditPoints="1" noAdjustHandles="1" noChangeArrowheads="1" noChangeShapeType="1" noTextEdit="1"/>
              </p:cNvSpPr>
              <p:nvPr/>
            </p:nvSpPr>
            <p:spPr>
              <a:xfrm>
                <a:off x="1104445" y="4324086"/>
                <a:ext cx="880946" cy="37557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17D006-462C-AA0D-5D4F-63DACC4367F8}"/>
                  </a:ext>
                </a:extLst>
              </p:cNvPr>
              <p:cNvSpPr txBox="1"/>
              <p:nvPr/>
            </p:nvSpPr>
            <p:spPr>
              <a:xfrm>
                <a:off x="1104445" y="3428083"/>
                <a:ext cx="8809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P</m:t>
                          </m:r>
                        </m:e>
                        <m:sub>
                          <m:r>
                            <a:rPr lang="en-GB" b="0" i="0" smtClean="0">
                              <a:latin typeface="Cambria Math" panose="02040503050406030204" pitchFamily="18" charset="0"/>
                            </a:rPr>
                            <m:t>1</m:t>
                          </m:r>
                        </m:sub>
                      </m:sSub>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P</m:t>
                          </m:r>
                        </m:e>
                        <m:sub>
                          <m:r>
                            <a:rPr lang="en-GB" b="0" i="0" smtClean="0">
                              <a:latin typeface="Cambria Math" panose="02040503050406030204" pitchFamily="18" charset="0"/>
                            </a:rPr>
                            <m:t>3</m:t>
                          </m:r>
                        </m:sub>
                      </m:sSub>
                    </m:oMath>
                  </m:oMathPara>
                </a14:m>
                <a:endParaRPr lang="en-GB" dirty="0"/>
              </a:p>
            </p:txBody>
          </p:sp>
        </mc:Choice>
        <mc:Fallback xmlns="">
          <p:sp>
            <p:nvSpPr>
              <p:cNvPr id="9" name="TextBox 8">
                <a:extLst>
                  <a:ext uri="{FF2B5EF4-FFF2-40B4-BE49-F238E27FC236}">
                    <a16:creationId xmlns:a16="http://schemas.microsoft.com/office/drawing/2014/main" id="{E417D006-462C-AA0D-5D4F-63DACC4367F8}"/>
                  </a:ext>
                </a:extLst>
              </p:cNvPr>
              <p:cNvSpPr txBox="1">
                <a:spLocks noRot="1" noChangeAspect="1" noMove="1" noResize="1" noEditPoints="1" noAdjustHandles="1" noChangeArrowheads="1" noChangeShapeType="1" noTextEdit="1"/>
              </p:cNvSpPr>
              <p:nvPr/>
            </p:nvSpPr>
            <p:spPr>
              <a:xfrm>
                <a:off x="1104445" y="3428083"/>
                <a:ext cx="880946"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998550E-88BD-D57C-174F-0F3A23151A59}"/>
                  </a:ext>
                </a:extLst>
              </p:cNvPr>
              <p:cNvSpPr txBox="1"/>
              <p:nvPr/>
            </p:nvSpPr>
            <p:spPr>
              <a:xfrm>
                <a:off x="1985391" y="2822721"/>
                <a:ext cx="8809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P</m:t>
                          </m:r>
                        </m:e>
                        <m:sub>
                          <m:r>
                            <a:rPr lang="en-GB" b="0" i="0" smtClean="0">
                              <a:latin typeface="Cambria Math" panose="02040503050406030204" pitchFamily="18" charset="0"/>
                            </a:rPr>
                            <m:t>2</m:t>
                          </m:r>
                        </m:sub>
                      </m:sSub>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P</m:t>
                          </m:r>
                        </m:e>
                        <m:sub>
                          <m:r>
                            <a:rPr lang="en-GB" b="0" i="0" smtClean="0">
                              <a:latin typeface="Cambria Math" panose="02040503050406030204" pitchFamily="18" charset="0"/>
                            </a:rPr>
                            <m:t>4</m:t>
                          </m:r>
                        </m:sub>
                      </m:sSub>
                    </m:oMath>
                  </m:oMathPara>
                </a14:m>
                <a:endParaRPr lang="en-GB" dirty="0"/>
              </a:p>
            </p:txBody>
          </p:sp>
        </mc:Choice>
        <mc:Fallback xmlns="">
          <p:sp>
            <p:nvSpPr>
              <p:cNvPr id="10" name="TextBox 9">
                <a:extLst>
                  <a:ext uri="{FF2B5EF4-FFF2-40B4-BE49-F238E27FC236}">
                    <a16:creationId xmlns:a16="http://schemas.microsoft.com/office/drawing/2014/main" id="{0998550E-88BD-D57C-174F-0F3A23151A59}"/>
                  </a:ext>
                </a:extLst>
              </p:cNvPr>
              <p:cNvSpPr txBox="1">
                <a:spLocks noRot="1" noChangeAspect="1" noMove="1" noResize="1" noEditPoints="1" noAdjustHandles="1" noChangeArrowheads="1" noChangeShapeType="1" noTextEdit="1"/>
              </p:cNvSpPr>
              <p:nvPr/>
            </p:nvSpPr>
            <p:spPr>
              <a:xfrm>
                <a:off x="1985391" y="2822721"/>
                <a:ext cx="880946"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BCAE76-541F-F196-7D3C-21E2B3F2D8BF}"/>
                  </a:ext>
                </a:extLst>
              </p:cNvPr>
              <p:cNvSpPr txBox="1"/>
              <p:nvPr/>
            </p:nvSpPr>
            <p:spPr>
              <a:xfrm>
                <a:off x="1104445" y="5059746"/>
                <a:ext cx="8809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oMath>
                  </m:oMathPara>
                </a14:m>
                <a:endParaRPr lang="en-GB" dirty="0"/>
              </a:p>
            </p:txBody>
          </p:sp>
        </mc:Choice>
        <mc:Fallback xmlns="">
          <p:sp>
            <p:nvSpPr>
              <p:cNvPr id="4" name="TextBox 3">
                <a:extLst>
                  <a:ext uri="{FF2B5EF4-FFF2-40B4-BE49-F238E27FC236}">
                    <a16:creationId xmlns:a16="http://schemas.microsoft.com/office/drawing/2014/main" id="{4DBCAE76-541F-F196-7D3C-21E2B3F2D8BF}"/>
                  </a:ext>
                </a:extLst>
              </p:cNvPr>
              <p:cNvSpPr txBox="1">
                <a:spLocks noRot="1" noChangeAspect="1" noMove="1" noResize="1" noEditPoints="1" noAdjustHandles="1" noChangeArrowheads="1" noChangeShapeType="1" noTextEdit="1"/>
              </p:cNvSpPr>
              <p:nvPr/>
            </p:nvSpPr>
            <p:spPr>
              <a:xfrm>
                <a:off x="1104445" y="5059746"/>
                <a:ext cx="880946"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1B491AC-0B54-296A-9D9D-C88B609F856C}"/>
                  </a:ext>
                </a:extLst>
              </p:cNvPr>
              <p:cNvSpPr txBox="1"/>
              <p:nvPr/>
            </p:nvSpPr>
            <p:spPr>
              <a:xfrm>
                <a:off x="223499" y="3792790"/>
                <a:ext cx="8809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3</m:t>
                          </m:r>
                        </m:sub>
                      </m:sSub>
                    </m:oMath>
                  </m:oMathPara>
                </a14:m>
                <a:endParaRPr lang="en-GB" dirty="0"/>
              </a:p>
            </p:txBody>
          </p:sp>
        </mc:Choice>
        <mc:Fallback xmlns="">
          <p:sp>
            <p:nvSpPr>
              <p:cNvPr id="5" name="TextBox 4">
                <a:extLst>
                  <a:ext uri="{FF2B5EF4-FFF2-40B4-BE49-F238E27FC236}">
                    <a16:creationId xmlns:a16="http://schemas.microsoft.com/office/drawing/2014/main" id="{01B491AC-0B54-296A-9D9D-C88B609F856C}"/>
                  </a:ext>
                </a:extLst>
              </p:cNvPr>
              <p:cNvSpPr txBox="1">
                <a:spLocks noRot="1" noChangeAspect="1" noMove="1" noResize="1" noEditPoints="1" noAdjustHandles="1" noChangeArrowheads="1" noChangeShapeType="1" noTextEdit="1"/>
              </p:cNvSpPr>
              <p:nvPr/>
            </p:nvSpPr>
            <p:spPr>
              <a:xfrm>
                <a:off x="223499" y="3792790"/>
                <a:ext cx="880946"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1C784C1-6287-2F67-4B8D-2B6EBAD828BD}"/>
                  </a:ext>
                </a:extLst>
              </p:cNvPr>
              <p:cNvSpPr txBox="1"/>
              <p:nvPr/>
            </p:nvSpPr>
            <p:spPr>
              <a:xfrm>
                <a:off x="1104445" y="2580072"/>
                <a:ext cx="8809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4</m:t>
                          </m:r>
                        </m:sub>
                      </m:sSub>
                    </m:oMath>
                  </m:oMathPara>
                </a14:m>
                <a:endParaRPr lang="en-GB" dirty="0"/>
              </a:p>
            </p:txBody>
          </p:sp>
        </mc:Choice>
        <mc:Fallback xmlns="">
          <p:sp>
            <p:nvSpPr>
              <p:cNvPr id="11" name="TextBox 10">
                <a:extLst>
                  <a:ext uri="{FF2B5EF4-FFF2-40B4-BE49-F238E27FC236}">
                    <a16:creationId xmlns:a16="http://schemas.microsoft.com/office/drawing/2014/main" id="{F1C784C1-6287-2F67-4B8D-2B6EBAD828BD}"/>
                  </a:ext>
                </a:extLst>
              </p:cNvPr>
              <p:cNvSpPr txBox="1">
                <a:spLocks noRot="1" noChangeAspect="1" noMove="1" noResize="1" noEditPoints="1" noAdjustHandles="1" noChangeArrowheads="1" noChangeShapeType="1" noTextEdit="1"/>
              </p:cNvSpPr>
              <p:nvPr/>
            </p:nvSpPr>
            <p:spPr>
              <a:xfrm>
                <a:off x="1104445" y="2580072"/>
                <a:ext cx="880946" cy="36933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EDCA5E2-D8F3-72F9-3696-C8C93A9441EF}"/>
                  </a:ext>
                </a:extLst>
              </p:cNvPr>
              <p:cNvSpPr txBox="1"/>
              <p:nvPr/>
            </p:nvSpPr>
            <p:spPr>
              <a:xfrm>
                <a:off x="2866337" y="2665793"/>
                <a:ext cx="8809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5</m:t>
                          </m:r>
                        </m:sub>
                      </m:sSub>
                    </m:oMath>
                  </m:oMathPara>
                </a14:m>
                <a:endParaRPr lang="en-GB" dirty="0"/>
              </a:p>
            </p:txBody>
          </p:sp>
        </mc:Choice>
        <mc:Fallback xmlns="">
          <p:sp>
            <p:nvSpPr>
              <p:cNvPr id="12" name="TextBox 11">
                <a:extLst>
                  <a:ext uri="{FF2B5EF4-FFF2-40B4-BE49-F238E27FC236}">
                    <a16:creationId xmlns:a16="http://schemas.microsoft.com/office/drawing/2014/main" id="{1EDCA5E2-D8F3-72F9-3696-C8C93A9441EF}"/>
                  </a:ext>
                </a:extLst>
              </p:cNvPr>
              <p:cNvSpPr txBox="1">
                <a:spLocks noRot="1" noChangeAspect="1" noMove="1" noResize="1" noEditPoints="1" noAdjustHandles="1" noChangeArrowheads="1" noChangeShapeType="1" noTextEdit="1"/>
              </p:cNvSpPr>
              <p:nvPr/>
            </p:nvSpPr>
            <p:spPr>
              <a:xfrm>
                <a:off x="2866337" y="2665793"/>
                <a:ext cx="880946" cy="369332"/>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316395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C0128-8F32-8024-846B-59250B0E576A}"/>
              </a:ext>
            </a:extLst>
          </p:cNvPr>
          <p:cNvSpPr>
            <a:spLocks noGrp="1"/>
          </p:cNvSpPr>
          <p:nvPr>
            <p:ph type="title"/>
          </p:nvPr>
        </p:nvSpPr>
        <p:spPr/>
        <p:txBody>
          <a:bodyPr/>
          <a:lstStyle/>
          <a:p>
            <a:r>
              <a:rPr lang="en-GB" dirty="0"/>
              <a:t>B-spline definition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23DEBFE-AD0A-6D29-CD1B-E8D19D71F09F}"/>
                  </a:ext>
                </a:extLst>
              </p:cNvPr>
              <p:cNvSpPr>
                <a:spLocks noGrp="1"/>
              </p:cNvSpPr>
              <p:nvPr>
                <p:ph idx="1"/>
              </p:nvPr>
            </p:nvSpPr>
            <p:spPr>
              <a:xfrm>
                <a:off x="886733" y="1847927"/>
                <a:ext cx="10515600" cy="4351338"/>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𝑺</m:t>
                      </m:r>
                      <m:d>
                        <m:dPr>
                          <m:ctrlPr>
                            <a:rPr lang="en-GB" i="1">
                              <a:latin typeface="Cambria Math" panose="02040503050406030204" pitchFamily="18" charset="0"/>
                            </a:rPr>
                          </m:ctrlPr>
                        </m:dPr>
                        <m:e>
                          <m:r>
                            <a:rPr lang="en-GB" i="1">
                              <a:latin typeface="Cambria Math" panose="02040503050406030204" pitchFamily="18" charset="0"/>
                            </a:rPr>
                            <m:t>𝑡</m:t>
                          </m:r>
                        </m:e>
                      </m:d>
                      <m:r>
                        <a:rPr lang="en-GB" i="1">
                          <a:latin typeface="Cambria Math" panose="02040503050406030204" pitchFamily="18" charset="0"/>
                        </a:rPr>
                        <m:t>=</m:t>
                      </m:r>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=0</m:t>
                          </m:r>
                        </m:sub>
                        <m:sup>
                          <m:r>
                            <a:rPr lang="en-GB" i="1">
                              <a:latin typeface="Cambria Math" panose="02040503050406030204" pitchFamily="18" charset="0"/>
                            </a:rPr>
                            <m:t>𝑛</m:t>
                          </m:r>
                        </m:sup>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r>
                                <a:rPr lang="en-GB" i="1">
                                  <a:latin typeface="Cambria Math" panose="02040503050406030204" pitchFamily="18" charset="0"/>
                                </a:rPr>
                                <m:t>,</m:t>
                              </m:r>
                              <m:r>
                                <a:rPr lang="en-GB" b="0" i="1" smtClean="0">
                                  <a:latin typeface="Cambria Math" panose="02040503050406030204" pitchFamily="18" charset="0"/>
                                </a:rPr>
                                <m:t>𝑑</m:t>
                              </m:r>
                            </m:sub>
                          </m:sSub>
                          <m:d>
                            <m:dPr>
                              <m:ctrlPr>
                                <a:rPr lang="en-GB" i="1">
                                  <a:latin typeface="Cambria Math" panose="02040503050406030204" pitchFamily="18" charset="0"/>
                                </a:rPr>
                              </m:ctrlPr>
                            </m:dPr>
                            <m:e>
                              <m:r>
                                <a:rPr lang="en-GB" i="1">
                                  <a:latin typeface="Cambria Math" panose="02040503050406030204" pitchFamily="18" charset="0"/>
                                </a:rPr>
                                <m:t>𝑡</m:t>
                              </m:r>
                            </m:e>
                          </m:d>
                          <m:sSub>
                            <m:sSubPr>
                              <m:ctrlPr>
                                <a:rPr lang="en-GB" i="1">
                                  <a:latin typeface="Cambria Math" panose="02040503050406030204" pitchFamily="18" charset="0"/>
                                </a:rPr>
                              </m:ctrlPr>
                            </m:sSubPr>
                            <m:e>
                              <m:r>
                                <a:rPr lang="en-GB" b="1" i="1">
                                  <a:latin typeface="Cambria Math" panose="02040503050406030204" pitchFamily="18" charset="0"/>
                                </a:rPr>
                                <m:t>𝒑</m:t>
                              </m:r>
                            </m:e>
                            <m:sub>
                              <m:r>
                                <a:rPr lang="en-GB" i="1">
                                  <a:latin typeface="Cambria Math" panose="02040503050406030204" pitchFamily="18" charset="0"/>
                                </a:rPr>
                                <m:t>𝑖</m:t>
                              </m:r>
                            </m:sub>
                          </m:sSub>
                        </m:e>
                      </m:nary>
                    </m:oMath>
                  </m:oMathPara>
                </a14:m>
                <a:endParaRPr lang="en-GB" dirty="0"/>
              </a:p>
              <a:p>
                <a:pPr marL="0" indent="0">
                  <a:buNone/>
                </a:pPr>
                <a:endParaRPr lang="en-GB" sz="1800" i="1" kern="100"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buNone/>
                </a:pPr>
                <a:endParaRPr lang="en-GB" sz="1800" i="1" kern="100"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buNone/>
                </a:pPr>
                <a:r>
                  <a:rPr lang="en-GB" sz="2600" dirty="0"/>
                  <a:t>The basis functions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𝑁</m:t>
                        </m:r>
                      </m:e>
                      <m:sub>
                        <m:r>
                          <a:rPr lang="en-GB" sz="2600" b="0" i="1" smtClean="0">
                            <a:latin typeface="Cambria Math" panose="02040503050406030204" pitchFamily="18" charset="0"/>
                          </a:rPr>
                          <m:t>𝑖</m:t>
                        </m:r>
                        <m:r>
                          <a:rPr lang="en-GB" sz="2600" b="0" i="1" smtClean="0">
                            <a:latin typeface="Cambria Math" panose="02040503050406030204" pitchFamily="18" charset="0"/>
                          </a:rPr>
                          <m:t>,</m:t>
                        </m:r>
                        <m:r>
                          <a:rPr lang="en-GB" sz="2600" b="0" i="1" smtClean="0">
                            <a:latin typeface="Cambria Math" panose="02040503050406030204" pitchFamily="18" charset="0"/>
                          </a:rPr>
                          <m:t>𝐷</m:t>
                        </m:r>
                      </m:sub>
                    </m:sSub>
                    <m:d>
                      <m:dPr>
                        <m:ctrlPr>
                          <a:rPr lang="en-GB" sz="2600" b="0" i="1" smtClean="0">
                            <a:latin typeface="Cambria Math" panose="02040503050406030204" pitchFamily="18" charset="0"/>
                          </a:rPr>
                        </m:ctrlPr>
                      </m:dPr>
                      <m:e>
                        <m:r>
                          <a:rPr lang="en-GB" sz="2600" b="0" i="1" smtClean="0">
                            <a:latin typeface="Cambria Math" panose="02040503050406030204" pitchFamily="18" charset="0"/>
                          </a:rPr>
                          <m:t>𝑡</m:t>
                        </m:r>
                      </m:e>
                    </m:d>
                  </m:oMath>
                </a14:m>
                <a:r>
                  <a:rPr lang="en-GB" sz="2600" i="1" kern="100" dirty="0">
                    <a:effectLst/>
                    <a:latin typeface="Cambria Math" panose="02040503050406030204" pitchFamily="18" charset="0"/>
                    <a:ea typeface="Times New Roman" panose="02020603050405020304" pitchFamily="18" charset="0"/>
                    <a:cs typeface="Times New Roman" panose="02020603050405020304" pitchFamily="18" charset="0"/>
                  </a:rPr>
                  <a:t> </a:t>
                </a:r>
                <a:r>
                  <a:rPr lang="en-GB" sz="2600" kern="100" dirty="0">
                    <a:latin typeface="Cambria Math" panose="02040503050406030204" pitchFamily="18" charset="0"/>
                    <a:ea typeface="Times New Roman" panose="02020603050405020304" pitchFamily="18" charset="0"/>
                    <a:cs typeface="Times New Roman" panose="02020603050405020304" pitchFamily="18" charset="0"/>
                  </a:rPr>
                  <a:t>are defined by the Cox de Boor recursion formula:</a:t>
                </a:r>
                <a:endParaRPr lang="en-GB" sz="2600" i="1" kern="100"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GB"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1, </m:t>
                              </m:r>
                              <m:r>
                                <m:rPr>
                                  <m:nor/>
                                </m:rPr>
                                <a:rPr lang="en-GB" kern="100">
                                  <a:effectLst/>
                                  <a:latin typeface="Cambria Math" panose="02040503050406030204" pitchFamily="18" charset="0"/>
                                  <a:ea typeface="Times New Roman" panose="02020603050405020304" pitchFamily="18" charset="0"/>
                                  <a:cs typeface="Times New Roman" panose="02020603050405020304" pitchFamily="18" charset="0"/>
                                </a:rPr>
                                <m:t>if</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0, </m:t>
                              </m:r>
                              <m:r>
                                <m:rPr>
                                  <m:nor/>
                                </m:rPr>
                                <a:rPr lang="en-GB" kern="100">
                                  <a:effectLst/>
                                  <a:latin typeface="Cambria Math" panose="02040503050406030204" pitchFamily="18" charset="0"/>
                                  <a:ea typeface="Times New Roman" panose="02020603050405020304" pitchFamily="18" charset="0"/>
                                  <a:cs typeface="Times New Roman" panose="02020603050405020304" pitchFamily="18" charset="0"/>
                                </a:rPr>
                                <m:t>otherwise</m:t>
                              </m:r>
                              <m:r>
                                <m:rPr>
                                  <m:nor/>
                                </m:rPr>
                                <a:rPr lang="en-GB" kern="100">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GB"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GB"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i="0" dirty="0">
                  <a:latin typeface="+mj-lt"/>
                </a:endParaRPr>
              </a:p>
            </p:txBody>
          </p:sp>
        </mc:Choice>
        <mc:Fallback>
          <p:sp>
            <p:nvSpPr>
              <p:cNvPr id="3" name="Content Placeholder 2">
                <a:extLst>
                  <a:ext uri="{FF2B5EF4-FFF2-40B4-BE49-F238E27FC236}">
                    <a16:creationId xmlns:a16="http://schemas.microsoft.com/office/drawing/2014/main" id="{B23DEBFE-AD0A-6D29-CD1B-E8D19D71F09F}"/>
                  </a:ext>
                </a:extLst>
              </p:cNvPr>
              <p:cNvSpPr>
                <a:spLocks noGrp="1" noRot="1" noChangeAspect="1" noMove="1" noResize="1" noEditPoints="1" noAdjustHandles="1" noChangeArrowheads="1" noChangeShapeType="1" noTextEdit="1"/>
              </p:cNvSpPr>
              <p:nvPr>
                <p:ph idx="1"/>
              </p:nvPr>
            </p:nvSpPr>
            <p:spPr>
              <a:xfrm>
                <a:off x="886733" y="1847927"/>
                <a:ext cx="10515600" cy="4351338"/>
              </a:xfrm>
              <a:blipFill>
                <a:blip r:embed="rId3"/>
                <a:stretch>
                  <a:fillRect l="-870"/>
                </a:stretch>
              </a:blipFill>
            </p:spPr>
            <p:txBody>
              <a:bodyPr/>
              <a:lstStyle/>
              <a:p>
                <a:r>
                  <a:rPr lang="en-GB">
                    <a:noFill/>
                  </a:rPr>
                  <a:t> </a:t>
                </a:r>
              </a:p>
            </p:txBody>
          </p:sp>
        </mc:Fallback>
      </mc:AlternateContent>
      <p:cxnSp>
        <p:nvCxnSpPr>
          <p:cNvPr id="5" name="Straight Connector 4">
            <a:extLst>
              <a:ext uri="{FF2B5EF4-FFF2-40B4-BE49-F238E27FC236}">
                <a16:creationId xmlns:a16="http://schemas.microsoft.com/office/drawing/2014/main" id="{B6DAA32C-8BA1-59C8-582C-D6561AFA9DB1}"/>
              </a:ext>
            </a:extLst>
          </p:cNvPr>
          <p:cNvCxnSpPr/>
          <p:nvPr/>
        </p:nvCxnSpPr>
        <p:spPr>
          <a:xfrm>
            <a:off x="4583151" y="2691159"/>
            <a:ext cx="71367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45F3EC7-433D-E495-C932-871E01FFEC9A}"/>
              </a:ext>
            </a:extLst>
          </p:cNvPr>
          <p:cNvCxnSpPr>
            <a:cxnSpLocks/>
          </p:cNvCxnSpPr>
          <p:nvPr/>
        </p:nvCxnSpPr>
        <p:spPr>
          <a:xfrm flipV="1">
            <a:off x="3847171" y="2691159"/>
            <a:ext cx="735980" cy="312234"/>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7EBA400-24AC-D55F-86B3-487CA3F7D814}"/>
              </a:ext>
            </a:extLst>
          </p:cNvPr>
          <p:cNvCxnSpPr>
            <a:cxnSpLocks/>
          </p:cNvCxnSpPr>
          <p:nvPr/>
        </p:nvCxnSpPr>
        <p:spPr>
          <a:xfrm>
            <a:off x="2653990" y="3003393"/>
            <a:ext cx="119318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A116FF1-A60B-ACC3-06A5-A1616E2CBA50}"/>
              </a:ext>
            </a:extLst>
          </p:cNvPr>
          <p:cNvSpPr txBox="1"/>
          <p:nvPr/>
        </p:nvSpPr>
        <p:spPr>
          <a:xfrm>
            <a:off x="2653990" y="2541728"/>
            <a:ext cx="1115122" cy="461665"/>
          </a:xfrm>
          <a:prstGeom prst="rect">
            <a:avLst/>
          </a:prstGeom>
          <a:noFill/>
        </p:spPr>
        <p:txBody>
          <a:bodyPr wrap="square" rtlCol="0">
            <a:spAutoFit/>
          </a:bodyPr>
          <a:lstStyle/>
          <a:p>
            <a:pPr algn="r"/>
            <a:r>
              <a:rPr lang="en-GB" sz="2400" dirty="0"/>
              <a:t>Spline</a:t>
            </a:r>
          </a:p>
        </p:txBody>
      </p:sp>
      <p:cxnSp>
        <p:nvCxnSpPr>
          <p:cNvPr id="13" name="Straight Connector 12">
            <a:extLst>
              <a:ext uri="{FF2B5EF4-FFF2-40B4-BE49-F238E27FC236}">
                <a16:creationId xmlns:a16="http://schemas.microsoft.com/office/drawing/2014/main" id="{E4405713-9811-871E-F4B9-C9904FED446B}"/>
              </a:ext>
            </a:extLst>
          </p:cNvPr>
          <p:cNvCxnSpPr>
            <a:cxnSpLocks/>
          </p:cNvCxnSpPr>
          <p:nvPr/>
        </p:nvCxnSpPr>
        <p:spPr>
          <a:xfrm>
            <a:off x="6266986" y="2709745"/>
            <a:ext cx="788019"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29C13B-0421-872C-4734-12578AB4E103}"/>
              </a:ext>
            </a:extLst>
          </p:cNvPr>
          <p:cNvCxnSpPr>
            <a:cxnSpLocks/>
          </p:cNvCxnSpPr>
          <p:nvPr/>
        </p:nvCxnSpPr>
        <p:spPr>
          <a:xfrm>
            <a:off x="7166518" y="2709745"/>
            <a:ext cx="43861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A1ED19-C305-5F5A-C237-BC224240B0E6}"/>
              </a:ext>
            </a:extLst>
          </p:cNvPr>
          <p:cNvCxnSpPr>
            <a:cxnSpLocks/>
          </p:cNvCxnSpPr>
          <p:nvPr/>
        </p:nvCxnSpPr>
        <p:spPr>
          <a:xfrm flipH="1" flipV="1">
            <a:off x="7020680" y="2691159"/>
            <a:ext cx="352425" cy="73226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6726A57-AE50-9427-B11E-BDF4C59B4419}"/>
              </a:ext>
            </a:extLst>
          </p:cNvPr>
          <p:cNvCxnSpPr>
            <a:cxnSpLocks/>
          </p:cNvCxnSpPr>
          <p:nvPr/>
        </p:nvCxnSpPr>
        <p:spPr>
          <a:xfrm>
            <a:off x="7605132" y="2709745"/>
            <a:ext cx="970621" cy="249043"/>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9CC0032-EEBC-5FF0-B6C6-AE6FE225F959}"/>
              </a:ext>
            </a:extLst>
          </p:cNvPr>
          <p:cNvCxnSpPr>
            <a:cxnSpLocks/>
          </p:cNvCxnSpPr>
          <p:nvPr/>
        </p:nvCxnSpPr>
        <p:spPr>
          <a:xfrm>
            <a:off x="7344009" y="3404837"/>
            <a:ext cx="2312947"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526279B-6941-0245-8475-988DFE3919C8}"/>
              </a:ext>
            </a:extLst>
          </p:cNvPr>
          <p:cNvSpPr txBox="1"/>
          <p:nvPr/>
        </p:nvSpPr>
        <p:spPr>
          <a:xfrm>
            <a:off x="7202762" y="2961758"/>
            <a:ext cx="2312946" cy="461665"/>
          </a:xfrm>
          <a:prstGeom prst="rect">
            <a:avLst/>
          </a:prstGeom>
          <a:noFill/>
        </p:spPr>
        <p:txBody>
          <a:bodyPr wrap="square" rtlCol="0">
            <a:spAutoFit/>
          </a:bodyPr>
          <a:lstStyle/>
          <a:p>
            <a:pPr algn="r"/>
            <a:r>
              <a:rPr lang="en-GB" sz="2400" dirty="0"/>
              <a:t>Basis Functions</a:t>
            </a:r>
          </a:p>
        </p:txBody>
      </p:sp>
      <p:cxnSp>
        <p:nvCxnSpPr>
          <p:cNvPr id="28" name="Straight Connector 27">
            <a:extLst>
              <a:ext uri="{FF2B5EF4-FFF2-40B4-BE49-F238E27FC236}">
                <a16:creationId xmlns:a16="http://schemas.microsoft.com/office/drawing/2014/main" id="{79F1C35C-CFFB-579C-180B-C1A3E471F316}"/>
              </a:ext>
            </a:extLst>
          </p:cNvPr>
          <p:cNvCxnSpPr>
            <a:cxnSpLocks/>
          </p:cNvCxnSpPr>
          <p:nvPr/>
        </p:nvCxnSpPr>
        <p:spPr>
          <a:xfrm>
            <a:off x="8575753" y="2962506"/>
            <a:ext cx="2012333" cy="3715"/>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18623B5-BCD0-19E5-55AF-535B9697F4BD}"/>
              </a:ext>
            </a:extLst>
          </p:cNvPr>
          <p:cNvSpPr txBox="1"/>
          <p:nvPr/>
        </p:nvSpPr>
        <p:spPr>
          <a:xfrm>
            <a:off x="8575753" y="2511554"/>
            <a:ext cx="1970512" cy="461665"/>
          </a:xfrm>
          <a:prstGeom prst="rect">
            <a:avLst/>
          </a:prstGeom>
          <a:noFill/>
        </p:spPr>
        <p:txBody>
          <a:bodyPr wrap="square" rtlCol="0">
            <a:spAutoFit/>
          </a:bodyPr>
          <a:lstStyle/>
          <a:p>
            <a:pPr algn="r"/>
            <a:r>
              <a:rPr lang="en-GB" sz="2400" dirty="0"/>
              <a:t>Control Points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02EF51A-7FD1-146B-4040-8937C4689F49}"/>
                  </a:ext>
                </a:extLst>
              </p:cNvPr>
              <p:cNvSpPr txBox="1">
                <a:spLocks/>
              </p:cNvSpPr>
              <p:nvPr/>
            </p:nvSpPr>
            <p:spPr>
              <a:xfrm>
                <a:off x="789667" y="1488973"/>
                <a:ext cx="10261192" cy="38689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spline curve </a:t>
                </a:r>
                <a14:m>
                  <m:oMath xmlns:m="http://schemas.openxmlformats.org/officeDocument/2006/math">
                    <m:r>
                      <a:rPr lang="en-GB" b="0" i="1" smtClean="0">
                        <a:latin typeface="Cambria Math" panose="02040503050406030204" pitchFamily="18" charset="0"/>
                      </a:rPr>
                      <m:t>𝑆</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GB" dirty="0"/>
                  <a:t> is defined as shown:</a:t>
                </a:r>
              </a:p>
            </p:txBody>
          </p:sp>
        </mc:Choice>
        <mc:Fallback xmlns="">
          <p:sp>
            <p:nvSpPr>
              <p:cNvPr id="4" name="Content Placeholder 2">
                <a:extLst>
                  <a:ext uri="{FF2B5EF4-FFF2-40B4-BE49-F238E27FC236}">
                    <a16:creationId xmlns:a16="http://schemas.microsoft.com/office/drawing/2014/main" id="{402EF51A-7FD1-146B-4040-8937C4689F49}"/>
                  </a:ext>
                </a:extLst>
              </p:cNvPr>
              <p:cNvSpPr txBox="1">
                <a:spLocks noRot="1" noChangeAspect="1" noMove="1" noResize="1" noEditPoints="1" noAdjustHandles="1" noChangeArrowheads="1" noChangeShapeType="1" noTextEdit="1"/>
              </p:cNvSpPr>
              <p:nvPr/>
            </p:nvSpPr>
            <p:spPr>
              <a:xfrm>
                <a:off x="789667" y="1488973"/>
                <a:ext cx="10261192" cy="3868901"/>
              </a:xfrm>
              <a:prstGeom prst="rect">
                <a:avLst/>
              </a:prstGeom>
              <a:blipFill>
                <a:blip r:embed="rId4"/>
                <a:stretch>
                  <a:fillRect l="-1070" t="-2520"/>
                </a:stretch>
              </a:blipFill>
            </p:spPr>
            <p:txBody>
              <a:bodyPr/>
              <a:lstStyle/>
              <a:p>
                <a:r>
                  <a:rPr lang="en-GB">
                    <a:noFill/>
                  </a:rPr>
                  <a:t> </a:t>
                </a:r>
              </a:p>
            </p:txBody>
          </p:sp>
        </mc:Fallback>
      </mc:AlternateContent>
    </p:spTree>
    <p:extLst>
      <p:ext uri="{BB962C8B-B14F-4D97-AF65-F5344CB8AC3E}">
        <p14:creationId xmlns:p14="http://schemas.microsoft.com/office/powerpoint/2010/main" val="745282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6" grpId="0"/>
      <p:bldP spid="30"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ADE5A-F977-BA4D-CFC3-422BB5CA739B}"/>
              </a:ext>
            </a:extLst>
          </p:cNvPr>
          <p:cNvSpPr>
            <a:spLocks noGrp="1"/>
          </p:cNvSpPr>
          <p:nvPr>
            <p:ph type="title"/>
          </p:nvPr>
        </p:nvSpPr>
        <p:spPr/>
        <p:txBody>
          <a:bodyPr/>
          <a:lstStyle/>
          <a:p>
            <a:r>
              <a:rPr lang="en-GB" dirty="0"/>
              <a:t>Basis Functions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13875F-BA6C-F84F-BA38-87AA11D3B5D6}"/>
                  </a:ext>
                </a:extLst>
              </p:cNvPr>
              <p:cNvSpPr>
                <a:spLocks noGrp="1"/>
              </p:cNvSpPr>
              <p:nvPr>
                <p:ph idx="1"/>
              </p:nvPr>
            </p:nvSpPr>
            <p:spPr>
              <a:xfrm>
                <a:off x="2555495" y="1690688"/>
                <a:ext cx="10515600" cy="4351338"/>
              </a:xfrm>
            </p:spPr>
            <p:txBody>
              <a:bodyPr/>
              <a:lstStyle/>
              <a:p>
                <a:pPr marL="0" indent="0">
                  <a:buNone/>
                </a:pPr>
                <a14:m>
                  <m:oMathPara xmlns:m="http://schemas.openxmlformats.org/officeDocument/2006/math">
                    <m:oMathParaPr>
                      <m:jc m:val="left"/>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1, </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if</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0, </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otherwise</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GB"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𝑑</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GB" dirty="0"/>
              </a:p>
            </p:txBody>
          </p:sp>
        </mc:Choice>
        <mc:Fallback>
          <p:sp>
            <p:nvSpPr>
              <p:cNvPr id="3" name="Content Placeholder 2">
                <a:extLst>
                  <a:ext uri="{FF2B5EF4-FFF2-40B4-BE49-F238E27FC236}">
                    <a16:creationId xmlns:a16="http://schemas.microsoft.com/office/drawing/2014/main" id="{8913875F-BA6C-F84F-BA38-87AA11D3B5D6}"/>
                  </a:ext>
                </a:extLst>
              </p:cNvPr>
              <p:cNvSpPr>
                <a:spLocks noGrp="1" noRot="1" noChangeAspect="1" noMove="1" noResize="1" noEditPoints="1" noAdjustHandles="1" noChangeArrowheads="1" noChangeShapeType="1" noTextEdit="1"/>
              </p:cNvSpPr>
              <p:nvPr>
                <p:ph idx="1"/>
              </p:nvPr>
            </p:nvSpPr>
            <p:spPr>
              <a:xfrm>
                <a:off x="2555495" y="1690688"/>
                <a:ext cx="10515600" cy="4351338"/>
              </a:xfrm>
              <a:blipFill>
                <a:blip r:embed="rId2"/>
                <a:stretch>
                  <a:fillRect/>
                </a:stretch>
              </a:blipFill>
            </p:spPr>
            <p:txBody>
              <a:bodyPr/>
              <a:lstStyle/>
              <a:p>
                <a:r>
                  <a:rPr lang="en-GB">
                    <a:noFill/>
                  </a:rPr>
                  <a:t> </a:t>
                </a:r>
              </a:p>
            </p:txBody>
          </p:sp>
        </mc:Fallback>
      </mc:AlternateContent>
      <p:grpSp>
        <p:nvGrpSpPr>
          <p:cNvPr id="36" name="Group 35">
            <a:extLst>
              <a:ext uri="{FF2B5EF4-FFF2-40B4-BE49-F238E27FC236}">
                <a16:creationId xmlns:a16="http://schemas.microsoft.com/office/drawing/2014/main" id="{EFB0250F-73E6-850A-6E6E-5D8DB8E1CA78}"/>
              </a:ext>
            </a:extLst>
          </p:cNvPr>
          <p:cNvGrpSpPr/>
          <p:nvPr/>
        </p:nvGrpSpPr>
        <p:grpSpPr>
          <a:xfrm>
            <a:off x="4237463" y="4338039"/>
            <a:ext cx="3233859" cy="1626408"/>
            <a:chOff x="2676292" y="4449551"/>
            <a:chExt cx="3233859" cy="162640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1DDA28F-8DEB-D2ED-4FFC-D835B5991939}"/>
                    </a:ext>
                  </a:extLst>
                </p:cNvPr>
                <p:cNvSpPr txBox="1"/>
                <p:nvPr/>
              </p:nvSpPr>
              <p:spPr>
                <a:xfrm>
                  <a:off x="2676292" y="4449551"/>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4" name="TextBox 3">
                  <a:extLst>
                    <a:ext uri="{FF2B5EF4-FFF2-40B4-BE49-F238E27FC236}">
                      <a16:creationId xmlns:a16="http://schemas.microsoft.com/office/drawing/2014/main" id="{F1DDA28F-8DEB-D2ED-4FFC-D835B5991939}"/>
                    </a:ext>
                  </a:extLst>
                </p:cNvPr>
                <p:cNvSpPr txBox="1">
                  <a:spLocks noRot="1" noChangeAspect="1" noMove="1" noResize="1" noEditPoints="1" noAdjustHandles="1" noChangeArrowheads="1" noChangeShapeType="1" noTextEdit="1"/>
                </p:cNvSpPr>
                <p:nvPr/>
              </p:nvSpPr>
              <p:spPr>
                <a:xfrm>
                  <a:off x="2676292" y="4449551"/>
                  <a:ext cx="635619" cy="542136"/>
                </a:xfrm>
                <a:prstGeom prst="rect">
                  <a:avLst/>
                </a:prstGeom>
                <a:blipFill>
                  <a:blip r:embed="rId3"/>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5580F4-6B2C-D590-C2D5-752C2877B095}"/>
                    </a:ext>
                  </a:extLst>
                </p:cNvPr>
                <p:cNvSpPr txBox="1"/>
                <p:nvPr/>
              </p:nvSpPr>
              <p:spPr>
                <a:xfrm>
                  <a:off x="2676292" y="4991687"/>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5" name="TextBox 4">
                  <a:extLst>
                    <a:ext uri="{FF2B5EF4-FFF2-40B4-BE49-F238E27FC236}">
                      <a16:creationId xmlns:a16="http://schemas.microsoft.com/office/drawing/2014/main" id="{545580F4-6B2C-D590-C2D5-752C2877B095}"/>
                    </a:ext>
                  </a:extLst>
                </p:cNvPr>
                <p:cNvSpPr txBox="1">
                  <a:spLocks noRot="1" noChangeAspect="1" noMove="1" noResize="1" noEditPoints="1" noAdjustHandles="1" noChangeArrowheads="1" noChangeShapeType="1" noTextEdit="1"/>
                </p:cNvSpPr>
                <p:nvPr/>
              </p:nvSpPr>
              <p:spPr>
                <a:xfrm>
                  <a:off x="2676292" y="4991687"/>
                  <a:ext cx="635619" cy="542136"/>
                </a:xfrm>
                <a:prstGeom prst="rect">
                  <a:avLst/>
                </a:prstGeom>
                <a:blipFill>
                  <a:blip r:embed="rId4"/>
                  <a:stretch>
                    <a:fillRect r="-28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0F8CBA-09A7-F6AF-FC02-AFA022DA3CB8}"/>
                    </a:ext>
                  </a:extLst>
                </p:cNvPr>
                <p:cNvSpPr txBox="1"/>
                <p:nvPr/>
              </p:nvSpPr>
              <p:spPr>
                <a:xfrm>
                  <a:off x="2676292" y="5533823"/>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6" name="TextBox 5">
                  <a:extLst>
                    <a:ext uri="{FF2B5EF4-FFF2-40B4-BE49-F238E27FC236}">
                      <a16:creationId xmlns:a16="http://schemas.microsoft.com/office/drawing/2014/main" id="{270F8CBA-09A7-F6AF-FC02-AFA022DA3CB8}"/>
                    </a:ext>
                  </a:extLst>
                </p:cNvPr>
                <p:cNvSpPr txBox="1">
                  <a:spLocks noRot="1" noChangeAspect="1" noMove="1" noResize="1" noEditPoints="1" noAdjustHandles="1" noChangeArrowheads="1" noChangeShapeType="1" noTextEdit="1"/>
                </p:cNvSpPr>
                <p:nvPr/>
              </p:nvSpPr>
              <p:spPr>
                <a:xfrm>
                  <a:off x="2676292" y="5533823"/>
                  <a:ext cx="635619" cy="542136"/>
                </a:xfrm>
                <a:prstGeom prst="rect">
                  <a:avLst/>
                </a:prstGeom>
                <a:blipFill>
                  <a:blip r:embed="rId5"/>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AB8B00-541C-ED29-3F5D-33EA0C6633DC}"/>
                    </a:ext>
                  </a:extLst>
                </p:cNvPr>
                <p:cNvSpPr txBox="1"/>
                <p:nvPr/>
              </p:nvSpPr>
              <p:spPr>
                <a:xfrm>
                  <a:off x="3954967" y="4720619"/>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en-GB" dirty="0"/>
                </a:p>
              </p:txBody>
            </p:sp>
          </mc:Choice>
          <mc:Fallback xmlns="">
            <p:sp>
              <p:nvSpPr>
                <p:cNvPr id="7" name="TextBox 6">
                  <a:extLst>
                    <a:ext uri="{FF2B5EF4-FFF2-40B4-BE49-F238E27FC236}">
                      <a16:creationId xmlns:a16="http://schemas.microsoft.com/office/drawing/2014/main" id="{A9AB8B00-541C-ED29-3F5D-33EA0C6633DC}"/>
                    </a:ext>
                  </a:extLst>
                </p:cNvPr>
                <p:cNvSpPr txBox="1">
                  <a:spLocks noRot="1" noChangeAspect="1" noMove="1" noResize="1" noEditPoints="1" noAdjustHandles="1" noChangeArrowheads="1" noChangeShapeType="1" noTextEdit="1"/>
                </p:cNvSpPr>
                <p:nvPr/>
              </p:nvSpPr>
              <p:spPr>
                <a:xfrm>
                  <a:off x="3954967" y="4720619"/>
                  <a:ext cx="635619" cy="542136"/>
                </a:xfrm>
                <a:prstGeom prst="rect">
                  <a:avLst/>
                </a:prstGeom>
                <a:blipFill>
                  <a:blip r:embed="rId6"/>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6E60FF-A302-2286-0BBB-7A9D5C9F9597}"/>
                    </a:ext>
                  </a:extLst>
                </p:cNvPr>
                <p:cNvSpPr txBox="1"/>
                <p:nvPr/>
              </p:nvSpPr>
              <p:spPr>
                <a:xfrm>
                  <a:off x="3973553" y="5262755"/>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en-GB" dirty="0"/>
                </a:p>
              </p:txBody>
            </p:sp>
          </mc:Choice>
          <mc:Fallback xmlns="">
            <p:sp>
              <p:nvSpPr>
                <p:cNvPr id="8" name="TextBox 7">
                  <a:extLst>
                    <a:ext uri="{FF2B5EF4-FFF2-40B4-BE49-F238E27FC236}">
                      <a16:creationId xmlns:a16="http://schemas.microsoft.com/office/drawing/2014/main" id="{556E60FF-A302-2286-0BBB-7A9D5C9F9597}"/>
                    </a:ext>
                  </a:extLst>
                </p:cNvPr>
                <p:cNvSpPr txBox="1">
                  <a:spLocks noRot="1" noChangeAspect="1" noMove="1" noResize="1" noEditPoints="1" noAdjustHandles="1" noChangeArrowheads="1" noChangeShapeType="1" noTextEdit="1"/>
                </p:cNvSpPr>
                <p:nvPr/>
              </p:nvSpPr>
              <p:spPr>
                <a:xfrm>
                  <a:off x="3973553" y="5262755"/>
                  <a:ext cx="635619" cy="542136"/>
                </a:xfrm>
                <a:prstGeom prst="rect">
                  <a:avLst/>
                </a:prstGeom>
                <a:blipFill>
                  <a:blip r:embed="rId7"/>
                  <a:stretch>
                    <a:fillRect r="-28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A19C35C-B1BC-0589-7810-ED7199BC8FA7}"/>
                    </a:ext>
                  </a:extLst>
                </p:cNvPr>
                <p:cNvSpPr txBox="1"/>
                <p:nvPr/>
              </p:nvSpPr>
              <p:spPr>
                <a:xfrm>
                  <a:off x="5274532" y="4991687"/>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en-GB" dirty="0"/>
                </a:p>
              </p:txBody>
            </p:sp>
          </mc:Choice>
          <mc:Fallback xmlns="">
            <p:sp>
              <p:nvSpPr>
                <p:cNvPr id="9" name="TextBox 8">
                  <a:extLst>
                    <a:ext uri="{FF2B5EF4-FFF2-40B4-BE49-F238E27FC236}">
                      <a16:creationId xmlns:a16="http://schemas.microsoft.com/office/drawing/2014/main" id="{EA19C35C-B1BC-0589-7810-ED7199BC8FA7}"/>
                    </a:ext>
                  </a:extLst>
                </p:cNvPr>
                <p:cNvSpPr txBox="1">
                  <a:spLocks noRot="1" noChangeAspect="1" noMove="1" noResize="1" noEditPoints="1" noAdjustHandles="1" noChangeArrowheads="1" noChangeShapeType="1" noTextEdit="1"/>
                </p:cNvSpPr>
                <p:nvPr/>
              </p:nvSpPr>
              <p:spPr>
                <a:xfrm>
                  <a:off x="5274532" y="4991687"/>
                  <a:ext cx="635619" cy="542136"/>
                </a:xfrm>
                <a:prstGeom prst="rect">
                  <a:avLst/>
                </a:prstGeom>
                <a:blipFill>
                  <a:blip r:embed="rId8"/>
                  <a:stretch>
                    <a:fillRect r="-2857"/>
                  </a:stretch>
                </a:blipFill>
              </p:spPr>
              <p:txBody>
                <a:bodyPr/>
                <a:lstStyle/>
                <a:p>
                  <a:r>
                    <a:rPr lang="en-GB">
                      <a:noFill/>
                    </a:rPr>
                    <a:t> </a:t>
                  </a:r>
                </a:p>
              </p:txBody>
            </p:sp>
          </mc:Fallback>
        </mc:AlternateContent>
        <p:cxnSp>
          <p:nvCxnSpPr>
            <p:cNvPr id="11" name="Straight Arrow Connector 10">
              <a:extLst>
                <a:ext uri="{FF2B5EF4-FFF2-40B4-BE49-F238E27FC236}">
                  <a16:creationId xmlns:a16="http://schemas.microsoft.com/office/drawing/2014/main" id="{598FEB35-2AEA-A2DC-53D4-9DC243ECE689}"/>
                </a:ext>
              </a:extLst>
            </p:cNvPr>
            <p:cNvCxnSpPr>
              <a:cxnSpLocks/>
              <a:stCxn id="4" idx="3"/>
            </p:cNvCxnSpPr>
            <p:nvPr/>
          </p:nvCxnSpPr>
          <p:spPr>
            <a:xfrm>
              <a:off x="3311911" y="4720619"/>
              <a:ext cx="635619" cy="1860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B17936E-0F6B-0C39-ECB9-0145434B0822}"/>
                </a:ext>
              </a:extLst>
            </p:cNvPr>
            <p:cNvCxnSpPr>
              <a:cxnSpLocks/>
              <a:stCxn id="5" idx="3"/>
              <a:endCxn id="7" idx="1"/>
            </p:cNvCxnSpPr>
            <p:nvPr/>
          </p:nvCxnSpPr>
          <p:spPr>
            <a:xfrm flipV="1">
              <a:off x="3311911" y="4991687"/>
              <a:ext cx="643056"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2403B1-6AC4-A0FD-178E-E7E1A68B894B}"/>
                </a:ext>
              </a:extLst>
            </p:cNvPr>
            <p:cNvCxnSpPr>
              <a:cxnSpLocks/>
              <a:stCxn id="5" idx="3"/>
            </p:cNvCxnSpPr>
            <p:nvPr/>
          </p:nvCxnSpPr>
          <p:spPr>
            <a:xfrm>
              <a:off x="3311911" y="5262755"/>
              <a:ext cx="643056" cy="1860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C7F405-D984-1623-DF81-94C59C471AA7}"/>
                </a:ext>
              </a:extLst>
            </p:cNvPr>
            <p:cNvCxnSpPr>
              <a:cxnSpLocks/>
              <a:stCxn id="6" idx="3"/>
              <a:endCxn id="8" idx="1"/>
            </p:cNvCxnSpPr>
            <p:nvPr/>
          </p:nvCxnSpPr>
          <p:spPr>
            <a:xfrm flipV="1">
              <a:off x="3311911" y="5533823"/>
              <a:ext cx="661642"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6B7BB16-A752-929D-5D17-7161C78F78A7}"/>
                </a:ext>
              </a:extLst>
            </p:cNvPr>
            <p:cNvCxnSpPr>
              <a:cxnSpLocks/>
              <a:stCxn id="8" idx="3"/>
              <a:endCxn id="9" idx="1"/>
            </p:cNvCxnSpPr>
            <p:nvPr/>
          </p:nvCxnSpPr>
          <p:spPr>
            <a:xfrm flipV="1">
              <a:off x="4609172" y="5262755"/>
              <a:ext cx="665360"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C36818-9377-4B5F-4B83-C908A0162EDB}"/>
                </a:ext>
              </a:extLst>
            </p:cNvPr>
            <p:cNvCxnSpPr>
              <a:cxnSpLocks/>
              <a:stCxn id="7" idx="3"/>
            </p:cNvCxnSpPr>
            <p:nvPr/>
          </p:nvCxnSpPr>
          <p:spPr>
            <a:xfrm>
              <a:off x="4590586" y="4991687"/>
              <a:ext cx="669076" cy="2285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2527EF5B-3541-BD65-08F3-CA4BCF56D685}"/>
              </a:ext>
            </a:extLst>
          </p:cNvPr>
          <p:cNvCxnSpPr>
            <a:cxnSpLocks/>
            <a:stCxn id="6" idx="2"/>
          </p:cNvCxnSpPr>
          <p:nvPr/>
        </p:nvCxnSpPr>
        <p:spPr>
          <a:xfrm flipH="1">
            <a:off x="4555272" y="5964447"/>
            <a:ext cx="1" cy="535259"/>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4597064-25DA-591F-F6D8-EF637BC70ED1}"/>
              </a:ext>
            </a:extLst>
          </p:cNvPr>
          <p:cNvCxnSpPr>
            <a:cxnSpLocks/>
            <a:stCxn id="8" idx="2"/>
          </p:cNvCxnSpPr>
          <p:nvPr/>
        </p:nvCxnSpPr>
        <p:spPr>
          <a:xfrm flipH="1">
            <a:off x="5847887" y="5693379"/>
            <a:ext cx="4647" cy="618521"/>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96F6F5B-C0EB-6EF9-5E4B-4DF205334C5D}"/>
              </a:ext>
            </a:extLst>
          </p:cNvPr>
          <p:cNvCxnSpPr>
            <a:cxnSpLocks/>
            <a:stCxn id="9" idx="2"/>
          </p:cNvCxnSpPr>
          <p:nvPr/>
        </p:nvCxnSpPr>
        <p:spPr>
          <a:xfrm>
            <a:off x="7153513" y="5422311"/>
            <a:ext cx="5575" cy="646674"/>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E72FF29-BA4E-A8EA-C1F7-5747B5256E9F}"/>
              </a:ext>
            </a:extLst>
          </p:cNvPr>
          <p:cNvCxnSpPr>
            <a:cxnSpLocks/>
            <a:endCxn id="9" idx="3"/>
          </p:cNvCxnSpPr>
          <p:nvPr/>
        </p:nvCxnSpPr>
        <p:spPr>
          <a:xfrm flipH="1" flipV="1">
            <a:off x="7471322" y="5151243"/>
            <a:ext cx="683946" cy="271068"/>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11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par>
                                <p:cTn id="16" presetID="10" presetClass="entr" presetSubtype="0"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par>
                                <p:cTn id="19" presetID="10"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56B02-F2ED-EE52-DBAC-AB61DB37DAC1}"/>
              </a:ext>
            </a:extLst>
          </p:cNvPr>
          <p:cNvSpPr>
            <a:spLocks noGrp="1"/>
          </p:cNvSpPr>
          <p:nvPr>
            <p:ph type="title"/>
          </p:nvPr>
        </p:nvSpPr>
        <p:spPr/>
        <p:txBody>
          <a:bodyPr/>
          <a:lstStyle/>
          <a:p>
            <a:r>
              <a:rPr lang="en-GB" dirty="0"/>
              <a:t>The knot vector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6E83743-2FB0-4BA4-2AB9-47CFD3E67F35}"/>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1, </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if</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0, </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otherwise</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𝑑</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GB" b="1" i="0" dirty="0">
                  <a:latin typeface="Cambria Math" panose="02040503050406030204" pitchFamily="18" charset="0"/>
                </a:endParaRPr>
              </a:p>
              <a:p>
                <a:endParaRPr lang="en-GB" b="1" i="0" dirty="0">
                  <a:latin typeface="Cambria Math" panose="02040503050406030204" pitchFamily="18" charset="0"/>
                </a:endParaRPr>
              </a:p>
              <a:p>
                <a14:m>
                  <m:oMath xmlns:m="http://schemas.openxmlformats.org/officeDocument/2006/math">
                    <m:r>
                      <a:rPr lang="en-GB" b="1" i="0" smtClean="0">
                        <a:latin typeface="Cambria Math" panose="02040503050406030204" pitchFamily="18" charset="0"/>
                      </a:rPr>
                      <m:t>𝐓</m:t>
                    </m:r>
                    <m:r>
                      <a:rPr lang="en-GB" b="1" i="0" smtClean="0">
                        <a:latin typeface="Cambria Math" panose="02040503050406030204" pitchFamily="18" charset="0"/>
                      </a:rPr>
                      <m:t>=</m:t>
                    </m:r>
                    <m:d>
                      <m:dPr>
                        <m:begChr m:val="["/>
                        <m:endChr m:val="]"/>
                        <m:ctrlPr>
                          <a:rPr lang="en-GB" b="1"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3</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e>
                    </m:d>
                  </m:oMath>
                </a14:m>
                <a:endParaRPr lang="en-GB" b="0" dirty="0"/>
              </a:p>
              <a:p>
                <a14:m>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+1</m:t>
                    </m:r>
                  </m:oMath>
                </a14:m>
                <a:endParaRPr lang="en-GB" b="0" dirty="0"/>
              </a:p>
              <a:p>
                <a14:m>
                  <m:oMath xmlns:m="http://schemas.openxmlformats.org/officeDocument/2006/math">
                    <m:r>
                      <a:rPr lang="en-GB" b="1" i="0" smtClean="0">
                        <a:latin typeface="Cambria Math" panose="02040503050406030204" pitchFamily="18" charset="0"/>
                      </a:rPr>
                      <m:t>𝐓</m:t>
                    </m:r>
                  </m:oMath>
                </a14:m>
                <a:r>
                  <a:rPr lang="en-GB" b="0" dirty="0"/>
                  <a:t> is a nondecreasing vector, i.e.,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𝑖</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_(</m:t>
                    </m:r>
                    <m:r>
                      <a:rPr lang="en-GB" b="0" i="1" smtClean="0">
                        <a:latin typeface="Cambria Math" panose="02040503050406030204" pitchFamily="18" charset="0"/>
                        <a:ea typeface="Cambria Math" panose="02040503050406030204" pitchFamily="18" charset="0"/>
                      </a:rPr>
                      <m:t>𝑖</m:t>
                    </m:r>
                    <m:r>
                      <a:rPr lang="en-GB" b="0" i="1" smtClean="0">
                        <a:latin typeface="Cambria Math" panose="02040503050406030204" pitchFamily="18" charset="0"/>
                        <a:ea typeface="Cambria Math" panose="02040503050406030204" pitchFamily="18" charset="0"/>
                      </a:rPr>
                      <m:t>+1)</m:t>
                    </m:r>
                  </m:oMath>
                </a14:m>
                <a:endParaRPr lang="en-GB" b="0" dirty="0"/>
              </a:p>
              <a:p>
                <a:endParaRPr lang="en-GB" b="0" dirty="0"/>
              </a:p>
              <a:p>
                <a:endParaRPr lang="en-GB" b="1" dirty="0"/>
              </a:p>
            </p:txBody>
          </p:sp>
        </mc:Choice>
        <mc:Fallback>
          <p:sp>
            <p:nvSpPr>
              <p:cNvPr id="3" name="Content Placeholder 2">
                <a:extLst>
                  <a:ext uri="{FF2B5EF4-FFF2-40B4-BE49-F238E27FC236}">
                    <a16:creationId xmlns:a16="http://schemas.microsoft.com/office/drawing/2014/main" id="{56E83743-2FB0-4BA4-2AB9-47CFD3E67F35}"/>
                  </a:ext>
                </a:extLst>
              </p:cNvPr>
              <p:cNvSpPr>
                <a:spLocks noGrp="1" noRot="1" noChangeAspect="1" noMove="1" noResize="1" noEditPoints="1" noAdjustHandles="1" noChangeArrowheads="1" noChangeShapeType="1" noTextEdit="1"/>
              </p:cNvSpPr>
              <p:nvPr>
                <p:ph idx="1"/>
              </p:nvPr>
            </p:nvSpPr>
            <p:spPr>
              <a:blipFill>
                <a:blip r:embed="rId3"/>
                <a:stretch>
                  <a:fillRect b="-700"/>
                </a:stretch>
              </a:blipFill>
            </p:spPr>
            <p:txBody>
              <a:bodyPr/>
              <a:lstStyle/>
              <a:p>
                <a:r>
                  <a:rPr lang="en-GB">
                    <a:noFill/>
                  </a:rPr>
                  <a:t> </a:t>
                </a:r>
              </a:p>
            </p:txBody>
          </p:sp>
        </mc:Fallback>
      </mc:AlternateContent>
    </p:spTree>
    <p:extLst>
      <p:ext uri="{BB962C8B-B14F-4D97-AF65-F5344CB8AC3E}">
        <p14:creationId xmlns:p14="http://schemas.microsoft.com/office/powerpoint/2010/main" val="2051718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C6B93-D6BD-423F-8270-F1F24CA6389B}"/>
              </a:ext>
            </a:extLst>
          </p:cNvPr>
          <p:cNvSpPr>
            <a:spLocks noGrp="1"/>
          </p:cNvSpPr>
          <p:nvPr>
            <p:ph type="title"/>
          </p:nvPr>
        </p:nvSpPr>
        <p:spPr/>
        <p:txBody>
          <a:bodyPr/>
          <a:lstStyle/>
          <a:p>
            <a:r>
              <a:rPr lang="en-GB" dirty="0"/>
              <a:t>A uniform quadratic spline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6A9311-E4E0-1371-3DED-D97ACB8E1EEA}"/>
                  </a:ext>
                </a:extLst>
              </p:cNvPr>
              <p:cNvSpPr>
                <a:spLocks noGrp="1"/>
              </p:cNvSpPr>
              <p:nvPr>
                <p:ph idx="1"/>
              </p:nvPr>
            </p:nvSpPr>
            <p:spPr>
              <a:xfrm>
                <a:off x="838200" y="1825625"/>
                <a:ext cx="10515600" cy="4820502"/>
              </a:xfrm>
            </p:spPr>
            <p:txBody>
              <a:bodyPr>
                <a:normAutofit/>
              </a:bodyPr>
              <a:lstStyle/>
              <a:p>
                <a14:m>
                  <m:oMath xmlns:m="http://schemas.openxmlformats.org/officeDocument/2006/math">
                    <m:r>
                      <a:rPr lang="en-GB" b="1" i="0" smtClean="0">
                        <a:latin typeface="Cambria Math" panose="02040503050406030204" pitchFamily="18" charset="0"/>
                      </a:rPr>
                      <m:t>𝐏</m:t>
                    </m:r>
                    <m:r>
                      <a:rPr lang="en-GB" b="0" i="1" smtClean="0">
                        <a:latin typeface="Cambria Math" panose="02040503050406030204" pitchFamily="18" charset="0"/>
                      </a:rPr>
                      <m:t>= [</m:t>
                    </m:r>
                    <m:sSub>
                      <m:sSubPr>
                        <m:ctrlPr>
                          <a:rPr lang="en-GB" b="1" i="1" smtClean="0">
                            <a:latin typeface="Cambria Math" panose="02040503050406030204" pitchFamily="18" charset="0"/>
                          </a:rPr>
                        </m:ctrlPr>
                      </m:sSubPr>
                      <m:e>
                        <m:r>
                          <a:rPr lang="en-GB" b="1" i="0" smtClean="0">
                            <a:latin typeface="Cambria Math" panose="02040503050406030204" pitchFamily="18" charset="0"/>
                          </a:rPr>
                          <m:t>𝐩</m:t>
                        </m:r>
                      </m:e>
                      <m:sub>
                        <m:r>
                          <a:rPr lang="en-GB" b="0" i="0" smtClean="0">
                            <a:latin typeface="Cambria Math" panose="02040503050406030204" pitchFamily="18" charset="0"/>
                          </a:rPr>
                          <m:t>0</m:t>
                        </m:r>
                      </m:sub>
                    </m:sSub>
                    <m:r>
                      <a:rPr lang="en-GB" b="1" i="0" smtClean="0">
                        <a:latin typeface="Cambria Math" panose="02040503050406030204" pitchFamily="18" charset="0"/>
                      </a:rPr>
                      <m:t>,</m:t>
                    </m:r>
                    <m:sSub>
                      <m:sSubPr>
                        <m:ctrlPr>
                          <a:rPr lang="en-GB" b="0" i="1" smtClean="0">
                            <a:latin typeface="Cambria Math" panose="02040503050406030204" pitchFamily="18" charset="0"/>
                          </a:rPr>
                        </m:ctrlPr>
                      </m:sSubPr>
                      <m:e>
                        <m:r>
                          <a:rPr lang="en-GB" b="1" i="0" smtClean="0">
                            <a:latin typeface="Cambria Math" panose="02040503050406030204" pitchFamily="18" charset="0"/>
                          </a:rPr>
                          <m:t>𝐩</m:t>
                        </m:r>
                      </m:e>
                      <m:sub>
                        <m:r>
                          <a:rPr lang="en-GB" b="0" i="0" smtClean="0">
                            <a:latin typeface="Cambria Math" panose="02040503050406030204" pitchFamily="18" charset="0"/>
                          </a:rPr>
                          <m:t>1</m:t>
                        </m:r>
                      </m:sub>
                    </m:sSub>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a:rPr lang="en-GB" b="1" i="0" smtClean="0">
                            <a:latin typeface="Cambria Math" panose="02040503050406030204" pitchFamily="18" charset="0"/>
                          </a:rPr>
                          <m:t>𝐩</m:t>
                        </m:r>
                      </m:e>
                      <m:sub>
                        <m:r>
                          <a:rPr lang="en-GB" b="0" i="0" smtClean="0">
                            <a:latin typeface="Cambria Math" panose="02040503050406030204" pitchFamily="18" charset="0"/>
                          </a:rPr>
                          <m:t>2</m:t>
                        </m:r>
                      </m:sub>
                    </m:sSub>
                    <m:r>
                      <a:rPr lang="en-GB" b="0" i="0" smtClean="0">
                        <a:latin typeface="Cambria Math" panose="02040503050406030204" pitchFamily="18" charset="0"/>
                      </a:rPr>
                      <m:t>]</m:t>
                    </m:r>
                  </m:oMath>
                </a14:m>
                <a:endParaRPr lang="en-GB" b="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=2 </m:t>
                    </m:r>
                  </m:oMath>
                </a14:m>
                <a:endParaRPr lang="en-GB" b="0" i="0"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rPr>
                      <m:t>=2  </m:t>
                    </m:r>
                  </m:oMath>
                </a14:m>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+1=5</m:t>
                    </m:r>
                  </m:oMath>
                </a14:m>
                <a:endParaRPr lang="en-GB" dirty="0">
                  <a:latin typeface="Cambria Math" panose="02040503050406030204" pitchFamily="18" charset="0"/>
                </a:endParaRPr>
              </a:p>
              <a:p>
                <a:r>
                  <a:rPr lang="en-GB" dirty="0">
                    <a:latin typeface="Cambria Math" panose="02040503050406030204" pitchFamily="18" charset="0"/>
                  </a:rPr>
                  <a:t>Equidistant knots = uniform spline</a:t>
                </a:r>
              </a:p>
              <a:p>
                <a14:m>
                  <m:oMath xmlns:m="http://schemas.openxmlformats.org/officeDocument/2006/math">
                    <m:r>
                      <a:rPr lang="en-GB" b="1" i="0" smtClean="0">
                        <a:latin typeface="Cambria Math" panose="02040503050406030204" pitchFamily="18" charset="0"/>
                      </a:rPr>
                      <m:t>𝐓</m:t>
                    </m:r>
                    <m:r>
                      <a:rPr lang="en-GB" b="1" i="0" smtClean="0">
                        <a:latin typeface="Cambria Math" panose="02040503050406030204" pitchFamily="18" charset="0"/>
                      </a:rPr>
                      <m:t>=</m:t>
                    </m:r>
                    <m:d>
                      <m:dPr>
                        <m:begChr m:val="["/>
                        <m:endChr m:val="]"/>
                        <m:ctrlPr>
                          <a:rPr lang="en-GB" b="1"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3</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4</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5</m:t>
                            </m:r>
                          </m:sub>
                        </m:sSub>
                      </m:e>
                    </m:d>
                    <m:r>
                      <a:rPr lang="en-GB" b="1" i="1" smtClean="0">
                        <a:latin typeface="Cambria Math" panose="02040503050406030204" pitchFamily="18" charset="0"/>
                      </a:rPr>
                      <m:t>=</m:t>
                    </m:r>
                    <m:d>
                      <m:dPr>
                        <m:begChr m:val="["/>
                        <m:endChr m:val="]"/>
                        <m:ctrlPr>
                          <a:rPr lang="en-GB" b="1" i="1" smtClean="0">
                            <a:latin typeface="Cambria Math" panose="02040503050406030204" pitchFamily="18" charset="0"/>
                          </a:rPr>
                        </m:ctrlPr>
                      </m:dPr>
                      <m:e>
                        <m:r>
                          <a:rPr lang="en-GB" b="0" i="1" smtClean="0">
                            <a:latin typeface="Cambria Math" panose="02040503050406030204" pitchFamily="18" charset="0"/>
                          </a:rPr>
                          <m:t>0,1,2,3,4,5</m:t>
                        </m:r>
                      </m:e>
                    </m:d>
                  </m:oMath>
                </a14:m>
                <a:endParaRPr lang="en-GB" dirty="0"/>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r>
                        <a:rPr lang="en-GB" i="1" smtClean="0">
                          <a:latin typeface="Cambria Math" panose="02040503050406030204" pitchFamily="18" charset="0"/>
                        </a:rPr>
                        <m:t>𝑆</m:t>
                      </m:r>
                      <m:d>
                        <m:dPr>
                          <m:ctrlPr>
                            <a:rPr lang="en-GB" i="1">
                              <a:latin typeface="Cambria Math" panose="02040503050406030204" pitchFamily="18" charset="0"/>
                            </a:rPr>
                          </m:ctrlPr>
                        </m:dPr>
                        <m:e>
                          <m:r>
                            <a:rPr lang="en-GB" i="1">
                              <a:latin typeface="Cambria Math" panose="02040503050406030204" pitchFamily="18" charset="0"/>
                            </a:rPr>
                            <m:t>𝑡</m:t>
                          </m:r>
                        </m:e>
                      </m:d>
                      <m:r>
                        <a:rPr lang="en-GB" i="1">
                          <a:latin typeface="Cambria Math" panose="02040503050406030204" pitchFamily="18" charset="0"/>
                        </a:rPr>
                        <m:t>=</m:t>
                      </m:r>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=0</m:t>
                          </m:r>
                        </m:sub>
                        <m:sup>
                          <m:r>
                            <a:rPr lang="en-GB" b="0" i="1" smtClean="0">
                              <a:latin typeface="Cambria Math" panose="02040503050406030204" pitchFamily="18" charset="0"/>
                            </a:rPr>
                            <m:t>2</m:t>
                          </m:r>
                        </m:sup>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r>
                                <a:rPr lang="en-GB" i="1">
                                  <a:latin typeface="Cambria Math" panose="02040503050406030204" pitchFamily="18" charset="0"/>
                                </a:rPr>
                                <m:t>,2</m:t>
                              </m:r>
                            </m:sub>
                          </m:sSub>
                          <m:d>
                            <m:dPr>
                              <m:ctrlPr>
                                <a:rPr lang="en-GB" i="1">
                                  <a:latin typeface="Cambria Math" panose="02040503050406030204" pitchFamily="18" charset="0"/>
                                </a:rPr>
                              </m:ctrlPr>
                            </m:dPr>
                            <m:e>
                              <m:r>
                                <a:rPr lang="en-GB" i="1">
                                  <a:latin typeface="Cambria Math" panose="02040503050406030204" pitchFamily="18" charset="0"/>
                                </a:rPr>
                                <m:t>𝑡</m:t>
                              </m:r>
                            </m:e>
                          </m:d>
                          <m:sSub>
                            <m:sSubPr>
                              <m:ctrlPr>
                                <a:rPr lang="en-GB" i="1">
                                  <a:latin typeface="Cambria Math" panose="02040503050406030204" pitchFamily="18" charset="0"/>
                                </a:rPr>
                              </m:ctrlPr>
                            </m:sSubPr>
                            <m:e>
                              <m:r>
                                <a:rPr lang="en-GB" b="1" i="1">
                                  <a:latin typeface="Cambria Math" panose="02040503050406030204" pitchFamily="18" charset="0"/>
                                </a:rPr>
                                <m:t>𝒑</m:t>
                              </m:r>
                            </m:e>
                            <m:sub>
                              <m:r>
                                <a:rPr lang="en-GB" i="1">
                                  <a:latin typeface="Cambria Math" panose="02040503050406030204" pitchFamily="18" charset="0"/>
                                </a:rPr>
                                <m:t>𝑖</m:t>
                              </m:r>
                            </m:sub>
                          </m:sSub>
                        </m:e>
                      </m:nary>
                    </m:oMath>
                  </m:oMathPara>
                </a14:m>
                <a:endParaRPr lang="en-GB" dirty="0"/>
              </a:p>
              <a:p>
                <a:endParaRPr lang="en-GB" dirty="0"/>
              </a:p>
              <a:p>
                <a:endParaRPr lang="en-GB" dirty="0"/>
              </a:p>
            </p:txBody>
          </p:sp>
        </mc:Choice>
        <mc:Fallback>
          <p:sp>
            <p:nvSpPr>
              <p:cNvPr id="3" name="Content Placeholder 2">
                <a:extLst>
                  <a:ext uri="{FF2B5EF4-FFF2-40B4-BE49-F238E27FC236}">
                    <a16:creationId xmlns:a16="http://schemas.microsoft.com/office/drawing/2014/main" id="{936A9311-E4E0-1371-3DED-D97ACB8E1EEA}"/>
                  </a:ext>
                </a:extLst>
              </p:cNvPr>
              <p:cNvSpPr>
                <a:spLocks noGrp="1" noRot="1" noChangeAspect="1" noMove="1" noResize="1" noEditPoints="1" noAdjustHandles="1" noChangeArrowheads="1" noChangeShapeType="1" noTextEdit="1"/>
              </p:cNvSpPr>
              <p:nvPr>
                <p:ph idx="1"/>
              </p:nvPr>
            </p:nvSpPr>
            <p:spPr>
              <a:xfrm>
                <a:off x="838200" y="1825625"/>
                <a:ext cx="10515600" cy="4820502"/>
              </a:xfrm>
              <a:blipFill>
                <a:blip r:embed="rId2"/>
                <a:stretch>
                  <a:fillRect l="-1043"/>
                </a:stretch>
              </a:blipFill>
            </p:spPr>
            <p:txBody>
              <a:bodyPr/>
              <a:lstStyle/>
              <a:p>
                <a:r>
                  <a:rPr lang="en-GB">
                    <a:noFill/>
                  </a:rPr>
                  <a:t> </a:t>
                </a:r>
              </a:p>
            </p:txBody>
          </p:sp>
        </mc:Fallback>
      </mc:AlternateContent>
      <p:sp>
        <p:nvSpPr>
          <p:cNvPr id="4" name="Content Placeholder 2">
            <a:extLst>
              <a:ext uri="{FF2B5EF4-FFF2-40B4-BE49-F238E27FC236}">
                <a16:creationId xmlns:a16="http://schemas.microsoft.com/office/drawing/2014/main" id="{76A06B2E-6D0A-075A-AAC3-50E19265247D}"/>
              </a:ext>
            </a:extLst>
          </p:cNvPr>
          <p:cNvSpPr txBox="1">
            <a:spLocks/>
          </p:cNvSpPr>
          <p:nvPr/>
        </p:nvSpPr>
        <p:spPr>
          <a:xfrm>
            <a:off x="968298" y="1690688"/>
            <a:ext cx="10515600" cy="1230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Tree>
    <p:extLst>
      <p:ext uri="{BB962C8B-B14F-4D97-AF65-F5344CB8AC3E}">
        <p14:creationId xmlns:p14="http://schemas.microsoft.com/office/powerpoint/2010/main" val="4198276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ADE5A-F977-BA4D-CFC3-422BB5CA739B}"/>
              </a:ext>
            </a:extLst>
          </p:cNvPr>
          <p:cNvSpPr>
            <a:spLocks noGrp="1"/>
          </p:cNvSpPr>
          <p:nvPr>
            <p:ph type="title"/>
          </p:nvPr>
        </p:nvSpPr>
        <p:spPr/>
        <p:txBody>
          <a:bodyPr/>
          <a:lstStyle/>
          <a:p>
            <a:r>
              <a:rPr lang="en-GB" dirty="0"/>
              <a:t>Basis Functions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13875F-BA6C-F84F-BA38-87AA11D3B5D6}"/>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1, </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if</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0, </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otherwise</m:t>
                              </m:r>
                              <m:r>
                                <m:rPr>
                                  <m:nor/>
                                </m:rPr>
                                <a:rPr lang="en-GB" sz="2800" kern="100">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num>
                        <m:den>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GB"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GB" dirty="0"/>
              </a:p>
            </p:txBody>
          </p:sp>
        </mc:Choice>
        <mc:Fallback>
          <p:sp>
            <p:nvSpPr>
              <p:cNvPr id="3" name="Content Placeholder 2">
                <a:extLst>
                  <a:ext uri="{FF2B5EF4-FFF2-40B4-BE49-F238E27FC236}">
                    <a16:creationId xmlns:a16="http://schemas.microsoft.com/office/drawing/2014/main" id="{8913875F-BA6C-F84F-BA38-87AA11D3B5D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grpSp>
        <p:nvGrpSpPr>
          <p:cNvPr id="36" name="Group 35">
            <a:extLst>
              <a:ext uri="{FF2B5EF4-FFF2-40B4-BE49-F238E27FC236}">
                <a16:creationId xmlns:a16="http://schemas.microsoft.com/office/drawing/2014/main" id="{EFB0250F-73E6-850A-6E6E-5D8DB8E1CA78}"/>
              </a:ext>
            </a:extLst>
          </p:cNvPr>
          <p:cNvGrpSpPr/>
          <p:nvPr/>
        </p:nvGrpSpPr>
        <p:grpSpPr>
          <a:xfrm>
            <a:off x="4237463" y="4338039"/>
            <a:ext cx="3233859" cy="1626408"/>
            <a:chOff x="2676292" y="4449551"/>
            <a:chExt cx="3233859" cy="162640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1DDA28F-8DEB-D2ED-4FFC-D835B5991939}"/>
                    </a:ext>
                  </a:extLst>
                </p:cNvPr>
                <p:cNvSpPr txBox="1"/>
                <p:nvPr/>
              </p:nvSpPr>
              <p:spPr>
                <a:xfrm>
                  <a:off x="2676292" y="4449551"/>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4" name="TextBox 3">
                  <a:extLst>
                    <a:ext uri="{FF2B5EF4-FFF2-40B4-BE49-F238E27FC236}">
                      <a16:creationId xmlns:a16="http://schemas.microsoft.com/office/drawing/2014/main" id="{F1DDA28F-8DEB-D2ED-4FFC-D835B5991939}"/>
                    </a:ext>
                  </a:extLst>
                </p:cNvPr>
                <p:cNvSpPr txBox="1">
                  <a:spLocks noRot="1" noChangeAspect="1" noMove="1" noResize="1" noEditPoints="1" noAdjustHandles="1" noChangeArrowheads="1" noChangeShapeType="1" noTextEdit="1"/>
                </p:cNvSpPr>
                <p:nvPr/>
              </p:nvSpPr>
              <p:spPr>
                <a:xfrm>
                  <a:off x="2676292" y="4449551"/>
                  <a:ext cx="635619" cy="542136"/>
                </a:xfrm>
                <a:prstGeom prst="rect">
                  <a:avLst/>
                </a:prstGeom>
                <a:blipFill>
                  <a:blip r:embed="rId3"/>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5580F4-6B2C-D590-C2D5-752C2877B095}"/>
                    </a:ext>
                  </a:extLst>
                </p:cNvPr>
                <p:cNvSpPr txBox="1"/>
                <p:nvPr/>
              </p:nvSpPr>
              <p:spPr>
                <a:xfrm>
                  <a:off x="2676292" y="4991687"/>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5" name="TextBox 4">
                  <a:extLst>
                    <a:ext uri="{FF2B5EF4-FFF2-40B4-BE49-F238E27FC236}">
                      <a16:creationId xmlns:a16="http://schemas.microsoft.com/office/drawing/2014/main" id="{545580F4-6B2C-D590-C2D5-752C2877B095}"/>
                    </a:ext>
                  </a:extLst>
                </p:cNvPr>
                <p:cNvSpPr txBox="1">
                  <a:spLocks noRot="1" noChangeAspect="1" noMove="1" noResize="1" noEditPoints="1" noAdjustHandles="1" noChangeArrowheads="1" noChangeShapeType="1" noTextEdit="1"/>
                </p:cNvSpPr>
                <p:nvPr/>
              </p:nvSpPr>
              <p:spPr>
                <a:xfrm>
                  <a:off x="2676292" y="4991687"/>
                  <a:ext cx="635619" cy="542136"/>
                </a:xfrm>
                <a:prstGeom prst="rect">
                  <a:avLst/>
                </a:prstGeom>
                <a:blipFill>
                  <a:blip r:embed="rId4"/>
                  <a:stretch>
                    <a:fillRect r="-28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0F8CBA-09A7-F6AF-FC02-AFA022DA3CB8}"/>
                    </a:ext>
                  </a:extLst>
                </p:cNvPr>
                <p:cNvSpPr txBox="1"/>
                <p:nvPr/>
              </p:nvSpPr>
              <p:spPr>
                <a:xfrm>
                  <a:off x="2676292" y="5533823"/>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6" name="TextBox 5">
                  <a:extLst>
                    <a:ext uri="{FF2B5EF4-FFF2-40B4-BE49-F238E27FC236}">
                      <a16:creationId xmlns:a16="http://schemas.microsoft.com/office/drawing/2014/main" id="{270F8CBA-09A7-F6AF-FC02-AFA022DA3CB8}"/>
                    </a:ext>
                  </a:extLst>
                </p:cNvPr>
                <p:cNvSpPr txBox="1">
                  <a:spLocks noRot="1" noChangeAspect="1" noMove="1" noResize="1" noEditPoints="1" noAdjustHandles="1" noChangeArrowheads="1" noChangeShapeType="1" noTextEdit="1"/>
                </p:cNvSpPr>
                <p:nvPr/>
              </p:nvSpPr>
              <p:spPr>
                <a:xfrm>
                  <a:off x="2676292" y="5533823"/>
                  <a:ext cx="635619" cy="542136"/>
                </a:xfrm>
                <a:prstGeom prst="rect">
                  <a:avLst/>
                </a:prstGeom>
                <a:blipFill>
                  <a:blip r:embed="rId5"/>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AB8B00-541C-ED29-3F5D-33EA0C6633DC}"/>
                    </a:ext>
                  </a:extLst>
                </p:cNvPr>
                <p:cNvSpPr txBox="1"/>
                <p:nvPr/>
              </p:nvSpPr>
              <p:spPr>
                <a:xfrm>
                  <a:off x="3954967" y="4720619"/>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en-GB" dirty="0"/>
                </a:p>
              </p:txBody>
            </p:sp>
          </mc:Choice>
          <mc:Fallback xmlns="">
            <p:sp>
              <p:nvSpPr>
                <p:cNvPr id="7" name="TextBox 6">
                  <a:extLst>
                    <a:ext uri="{FF2B5EF4-FFF2-40B4-BE49-F238E27FC236}">
                      <a16:creationId xmlns:a16="http://schemas.microsoft.com/office/drawing/2014/main" id="{A9AB8B00-541C-ED29-3F5D-33EA0C6633DC}"/>
                    </a:ext>
                  </a:extLst>
                </p:cNvPr>
                <p:cNvSpPr txBox="1">
                  <a:spLocks noRot="1" noChangeAspect="1" noMove="1" noResize="1" noEditPoints="1" noAdjustHandles="1" noChangeArrowheads="1" noChangeShapeType="1" noTextEdit="1"/>
                </p:cNvSpPr>
                <p:nvPr/>
              </p:nvSpPr>
              <p:spPr>
                <a:xfrm>
                  <a:off x="3954967" y="4720619"/>
                  <a:ext cx="635619" cy="542136"/>
                </a:xfrm>
                <a:prstGeom prst="rect">
                  <a:avLst/>
                </a:prstGeom>
                <a:blipFill>
                  <a:blip r:embed="rId6"/>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6E60FF-A302-2286-0BBB-7A9D5C9F9597}"/>
                    </a:ext>
                  </a:extLst>
                </p:cNvPr>
                <p:cNvSpPr txBox="1"/>
                <p:nvPr/>
              </p:nvSpPr>
              <p:spPr>
                <a:xfrm>
                  <a:off x="3973553" y="5262755"/>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en-GB" dirty="0"/>
                </a:p>
              </p:txBody>
            </p:sp>
          </mc:Choice>
          <mc:Fallback xmlns="">
            <p:sp>
              <p:nvSpPr>
                <p:cNvPr id="8" name="TextBox 7">
                  <a:extLst>
                    <a:ext uri="{FF2B5EF4-FFF2-40B4-BE49-F238E27FC236}">
                      <a16:creationId xmlns:a16="http://schemas.microsoft.com/office/drawing/2014/main" id="{556E60FF-A302-2286-0BBB-7A9D5C9F9597}"/>
                    </a:ext>
                  </a:extLst>
                </p:cNvPr>
                <p:cNvSpPr txBox="1">
                  <a:spLocks noRot="1" noChangeAspect="1" noMove="1" noResize="1" noEditPoints="1" noAdjustHandles="1" noChangeArrowheads="1" noChangeShapeType="1" noTextEdit="1"/>
                </p:cNvSpPr>
                <p:nvPr/>
              </p:nvSpPr>
              <p:spPr>
                <a:xfrm>
                  <a:off x="3973553" y="5262755"/>
                  <a:ext cx="635619" cy="542136"/>
                </a:xfrm>
                <a:prstGeom prst="rect">
                  <a:avLst/>
                </a:prstGeom>
                <a:blipFill>
                  <a:blip r:embed="rId7"/>
                  <a:stretch>
                    <a:fillRect r="-28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A19C35C-B1BC-0589-7810-ED7199BC8FA7}"/>
                    </a:ext>
                  </a:extLst>
                </p:cNvPr>
                <p:cNvSpPr txBox="1"/>
                <p:nvPr/>
              </p:nvSpPr>
              <p:spPr>
                <a:xfrm>
                  <a:off x="5274532" y="4991687"/>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en-GB" dirty="0"/>
                </a:p>
              </p:txBody>
            </p:sp>
          </mc:Choice>
          <mc:Fallback xmlns="">
            <p:sp>
              <p:nvSpPr>
                <p:cNvPr id="9" name="TextBox 8">
                  <a:extLst>
                    <a:ext uri="{FF2B5EF4-FFF2-40B4-BE49-F238E27FC236}">
                      <a16:creationId xmlns:a16="http://schemas.microsoft.com/office/drawing/2014/main" id="{EA19C35C-B1BC-0589-7810-ED7199BC8FA7}"/>
                    </a:ext>
                  </a:extLst>
                </p:cNvPr>
                <p:cNvSpPr txBox="1">
                  <a:spLocks noRot="1" noChangeAspect="1" noMove="1" noResize="1" noEditPoints="1" noAdjustHandles="1" noChangeArrowheads="1" noChangeShapeType="1" noTextEdit="1"/>
                </p:cNvSpPr>
                <p:nvPr/>
              </p:nvSpPr>
              <p:spPr>
                <a:xfrm>
                  <a:off x="5274532" y="4991687"/>
                  <a:ext cx="635619" cy="542136"/>
                </a:xfrm>
                <a:prstGeom prst="rect">
                  <a:avLst/>
                </a:prstGeom>
                <a:blipFill>
                  <a:blip r:embed="rId8"/>
                  <a:stretch>
                    <a:fillRect r="-2857"/>
                  </a:stretch>
                </a:blipFill>
              </p:spPr>
              <p:txBody>
                <a:bodyPr/>
                <a:lstStyle/>
                <a:p>
                  <a:r>
                    <a:rPr lang="en-GB">
                      <a:noFill/>
                    </a:rPr>
                    <a:t> </a:t>
                  </a:r>
                </a:p>
              </p:txBody>
            </p:sp>
          </mc:Fallback>
        </mc:AlternateContent>
        <p:cxnSp>
          <p:nvCxnSpPr>
            <p:cNvPr id="11" name="Straight Arrow Connector 10">
              <a:extLst>
                <a:ext uri="{FF2B5EF4-FFF2-40B4-BE49-F238E27FC236}">
                  <a16:creationId xmlns:a16="http://schemas.microsoft.com/office/drawing/2014/main" id="{598FEB35-2AEA-A2DC-53D4-9DC243ECE689}"/>
                </a:ext>
              </a:extLst>
            </p:cNvPr>
            <p:cNvCxnSpPr>
              <a:cxnSpLocks/>
              <a:stCxn id="4" idx="3"/>
            </p:cNvCxnSpPr>
            <p:nvPr/>
          </p:nvCxnSpPr>
          <p:spPr>
            <a:xfrm>
              <a:off x="3311911" y="4720619"/>
              <a:ext cx="635619" cy="1860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B17936E-0F6B-0C39-ECB9-0145434B0822}"/>
                </a:ext>
              </a:extLst>
            </p:cNvPr>
            <p:cNvCxnSpPr>
              <a:cxnSpLocks/>
              <a:stCxn id="5" idx="3"/>
              <a:endCxn id="7" idx="1"/>
            </p:cNvCxnSpPr>
            <p:nvPr/>
          </p:nvCxnSpPr>
          <p:spPr>
            <a:xfrm flipV="1">
              <a:off x="3311911" y="4991687"/>
              <a:ext cx="643056"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2403B1-6AC4-A0FD-178E-E7E1A68B894B}"/>
                </a:ext>
              </a:extLst>
            </p:cNvPr>
            <p:cNvCxnSpPr>
              <a:cxnSpLocks/>
              <a:stCxn id="5" idx="3"/>
            </p:cNvCxnSpPr>
            <p:nvPr/>
          </p:nvCxnSpPr>
          <p:spPr>
            <a:xfrm>
              <a:off x="3311911" y="5262755"/>
              <a:ext cx="643056" cy="1860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C7F405-D984-1623-DF81-94C59C471AA7}"/>
                </a:ext>
              </a:extLst>
            </p:cNvPr>
            <p:cNvCxnSpPr>
              <a:cxnSpLocks/>
              <a:stCxn id="6" idx="3"/>
              <a:endCxn id="8" idx="1"/>
            </p:cNvCxnSpPr>
            <p:nvPr/>
          </p:nvCxnSpPr>
          <p:spPr>
            <a:xfrm flipV="1">
              <a:off x="3311911" y="5533823"/>
              <a:ext cx="661642"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6B7BB16-A752-929D-5D17-7161C78F78A7}"/>
                </a:ext>
              </a:extLst>
            </p:cNvPr>
            <p:cNvCxnSpPr>
              <a:cxnSpLocks/>
              <a:stCxn id="8" idx="3"/>
              <a:endCxn id="9" idx="1"/>
            </p:cNvCxnSpPr>
            <p:nvPr/>
          </p:nvCxnSpPr>
          <p:spPr>
            <a:xfrm flipV="1">
              <a:off x="4609172" y="5262755"/>
              <a:ext cx="665360"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C36818-9377-4B5F-4B83-C908A0162EDB}"/>
                </a:ext>
              </a:extLst>
            </p:cNvPr>
            <p:cNvCxnSpPr>
              <a:cxnSpLocks/>
              <a:stCxn id="7" idx="3"/>
            </p:cNvCxnSpPr>
            <p:nvPr/>
          </p:nvCxnSpPr>
          <p:spPr>
            <a:xfrm>
              <a:off x="4590586" y="4991687"/>
              <a:ext cx="669076" cy="2285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5636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F011D21F-4E3B-13DA-C4A8-2A0927E3E07A}"/>
                  </a:ext>
                </a:extLst>
              </p:cNvPr>
              <p:cNvSpPr txBox="1"/>
              <p:nvPr/>
            </p:nvSpPr>
            <p:spPr>
              <a:xfrm>
                <a:off x="61420" y="1931979"/>
                <a:ext cx="7768771" cy="11908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32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1, </m:t>
                              </m:r>
                              <m:r>
                                <m:rPr>
                                  <m:nor/>
                                </m:rPr>
                                <a:rPr lang="en-GB" sz="3200" kern="100">
                                  <a:effectLst/>
                                  <a:latin typeface="Cambria Math" panose="02040503050406030204" pitchFamily="18" charset="0"/>
                                  <a:ea typeface="Times New Roman" panose="02020603050405020304" pitchFamily="18" charset="0"/>
                                  <a:cs typeface="Times New Roman" panose="02020603050405020304" pitchFamily="18" charset="0"/>
                                </a:rPr>
                                <m:t>if</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0, </m:t>
                              </m:r>
                              <m:r>
                                <m:rPr>
                                  <m:nor/>
                                </m:rPr>
                                <a:rPr lang="en-GB" sz="3200" kern="100">
                                  <a:effectLst/>
                                  <a:latin typeface="Cambria Math" panose="02040503050406030204" pitchFamily="18" charset="0"/>
                                  <a:ea typeface="Times New Roman" panose="02020603050405020304" pitchFamily="18" charset="0"/>
                                  <a:cs typeface="Times New Roman" panose="02020603050405020304" pitchFamily="18" charset="0"/>
                                </a:rPr>
                                <m:t>otherwise</m:t>
                              </m:r>
                              <m:r>
                                <m:rPr>
                                  <m:nor/>
                                </m:rPr>
                                <a:rPr lang="en-GB" sz="3200" kern="100">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GB" dirty="0"/>
              </a:p>
            </p:txBody>
          </p:sp>
        </mc:Choice>
        <mc:Fallback>
          <p:sp>
            <p:nvSpPr>
              <p:cNvPr id="41" name="TextBox 40">
                <a:extLst>
                  <a:ext uri="{FF2B5EF4-FFF2-40B4-BE49-F238E27FC236}">
                    <a16:creationId xmlns:a16="http://schemas.microsoft.com/office/drawing/2014/main" id="{F011D21F-4E3B-13DA-C4A8-2A0927E3E07A}"/>
                  </a:ext>
                </a:extLst>
              </p:cNvPr>
              <p:cNvSpPr txBox="1">
                <a:spLocks noRot="1" noChangeAspect="1" noMove="1" noResize="1" noEditPoints="1" noAdjustHandles="1" noChangeArrowheads="1" noChangeShapeType="1" noTextEdit="1"/>
              </p:cNvSpPr>
              <p:nvPr/>
            </p:nvSpPr>
            <p:spPr>
              <a:xfrm>
                <a:off x="61420" y="1931979"/>
                <a:ext cx="7768771" cy="119083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0D2524-DA7F-8FDC-B817-D5C8DA356346}"/>
                  </a:ext>
                </a:extLst>
              </p:cNvPr>
              <p:cNvSpPr>
                <a:spLocks noGrp="1"/>
              </p:cNvSpPr>
              <p:nvPr>
                <p:ph idx="1"/>
              </p:nvPr>
            </p:nvSpPr>
            <p:spPr>
              <a:xfrm>
                <a:off x="0" y="3375645"/>
                <a:ext cx="12197576" cy="348235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0,2</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𝑡</m:t>
                          </m:r>
                          <m:r>
                            <a:rPr lang="en-GB" b="0" i="1" smtClean="0">
                              <a:latin typeface="Cambria Math" panose="02040503050406030204" pitchFamily="18" charset="0"/>
                            </a:rPr>
                            <m:t>−0</m:t>
                          </m:r>
                        </m:num>
                        <m:den>
                          <m:r>
                            <a:rPr lang="en-GB" b="0" i="1" smtClean="0">
                              <a:latin typeface="Cambria Math" panose="02040503050406030204" pitchFamily="18" charset="0"/>
                            </a:rPr>
                            <m:t>2−0</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0,1</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r>
                            <a:rPr lang="en-GB" b="0" i="1" smtClean="0">
                              <a:latin typeface="Cambria Math" panose="02040503050406030204" pitchFamily="18" charset="0"/>
                            </a:rPr>
                            <m:t>𝑡</m:t>
                          </m:r>
                        </m:num>
                        <m:den>
                          <m:r>
                            <a:rPr lang="en-GB" b="0" i="1" smtClean="0">
                              <a:latin typeface="Cambria Math" panose="02040503050406030204" pitchFamily="18" charset="0"/>
                            </a:rPr>
                            <m:t>3−1</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1,1</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oMath>
                  </m:oMathPara>
                </a14:m>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𝑡</m:t>
                          </m:r>
                        </m:num>
                        <m:den>
                          <m:r>
                            <a:rPr lang="en-GB" b="0" i="1" smtClean="0">
                              <a:latin typeface="Cambria Math" panose="02040503050406030204" pitchFamily="18" charset="0"/>
                            </a:rPr>
                            <m:t>2</m:t>
                          </m:r>
                        </m:den>
                      </m:f>
                      <m:d>
                        <m:dPr>
                          <m:begChr m:val="["/>
                          <m:endChr m:val="]"/>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𝑡</m:t>
                              </m:r>
                              <m:r>
                                <a:rPr lang="en-GB" b="0" i="1" smtClean="0">
                                  <a:latin typeface="Cambria Math" panose="02040503050406030204" pitchFamily="18" charset="0"/>
                                </a:rPr>
                                <m:t>−0</m:t>
                              </m:r>
                            </m:num>
                            <m:den>
                              <m:r>
                                <a:rPr lang="en-GB" b="0" i="1" smtClean="0">
                                  <a:latin typeface="Cambria Math" panose="02040503050406030204" pitchFamily="18" charset="0"/>
                                </a:rPr>
                                <m:t>1−0</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𝑡</m:t>
                              </m:r>
                            </m:num>
                            <m:den>
                              <m:r>
                                <a:rPr lang="en-GB" b="0" i="1" smtClean="0">
                                  <a:latin typeface="Cambria Math" panose="02040503050406030204" pitchFamily="18" charset="0"/>
                                </a:rPr>
                                <m:t>2−1</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1,0</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r>
                            <a:rPr lang="en-GB" b="0" i="1" smtClean="0">
                              <a:latin typeface="Cambria Math" panose="02040503050406030204" pitchFamily="18" charset="0"/>
                            </a:rPr>
                            <m:t>𝑡</m:t>
                          </m:r>
                        </m:num>
                        <m:den>
                          <m:r>
                            <a:rPr lang="en-GB" b="0" i="1" smtClean="0">
                              <a:latin typeface="Cambria Math" panose="02040503050406030204" pitchFamily="18" charset="0"/>
                            </a:rPr>
                            <m:t>2</m:t>
                          </m:r>
                        </m:den>
                      </m:f>
                      <m:d>
                        <m:dPr>
                          <m:begChr m:val="["/>
                          <m:endChr m:val="]"/>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𝑡</m:t>
                              </m:r>
                              <m:r>
                                <a:rPr lang="en-GB" b="0" i="1" smtClean="0">
                                  <a:latin typeface="Cambria Math" panose="02040503050406030204" pitchFamily="18" charset="0"/>
                                </a:rPr>
                                <m:t>−1</m:t>
                              </m:r>
                            </m:num>
                            <m:den>
                              <m:r>
                                <a:rPr lang="en-GB" b="0" i="1" smtClean="0">
                                  <a:latin typeface="Cambria Math" panose="02040503050406030204" pitchFamily="18" charset="0"/>
                                </a:rPr>
                                <m:t>2−1</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r>
                                <a:rPr lang="en-GB" b="0" i="1" smtClean="0">
                                  <a:latin typeface="Cambria Math" panose="02040503050406030204" pitchFamily="18" charset="0"/>
                                </a:rPr>
                                <m:t>𝑡</m:t>
                              </m:r>
                            </m:num>
                            <m:den>
                              <m:r>
                                <a:rPr lang="en-GB" b="0" i="1" smtClean="0">
                                  <a:latin typeface="Cambria Math" panose="02040503050406030204" pitchFamily="18" charset="0"/>
                                </a:rPr>
                                <m:t>3−2</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2,0</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e>
                      </m:d>
                    </m:oMath>
                  </m:oMathPara>
                </a14:m>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𝑡</m:t>
                      </m:r>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𝑡</m:t>
                          </m:r>
                        </m:e>
                      </m:d>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𝑡</m:t>
                          </m:r>
                        </m:e>
                      </m:d>
                      <m:d>
                        <m:dPr>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−1</m:t>
                          </m:r>
                        </m:e>
                      </m:d>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𝑡</m:t>
                              </m:r>
                            </m:e>
                          </m:d>
                        </m:e>
                        <m:sup>
                          <m:r>
                            <a:rPr lang="en-GB" b="0" i="1" smtClean="0">
                              <a:latin typeface="Cambria Math" panose="02040503050406030204" pitchFamily="18" charset="0"/>
                            </a:rPr>
                            <m:t>2</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d>
                            <m:dPr>
                              <m:ctrlPr>
                                <a:rPr lang="en-GB" b="0" i="1" smtClean="0">
                                  <a:latin typeface="Cambria Math" panose="02040503050406030204" pitchFamily="18" charset="0"/>
                                </a:rPr>
                              </m:ctrlPr>
                            </m:dPr>
                            <m:e>
                              <m:r>
                                <a:rPr lang="en-GB" b="0" i="1" smtClean="0">
                                  <a:latin typeface="Cambria Math" panose="02040503050406030204" pitchFamily="18" charset="0"/>
                                </a:rPr>
                                <m:t>2,0</m:t>
                              </m:r>
                            </m:e>
                          </m:d>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oMath>
                  </m:oMathPara>
                </a14:m>
                <a:endParaRPr lang="en-GB" b="0" dirty="0"/>
              </a:p>
            </p:txBody>
          </p:sp>
        </mc:Choice>
        <mc:Fallback xmlns="">
          <p:sp>
            <p:nvSpPr>
              <p:cNvPr id="3" name="Content Placeholder 2">
                <a:extLst>
                  <a:ext uri="{FF2B5EF4-FFF2-40B4-BE49-F238E27FC236}">
                    <a16:creationId xmlns:a16="http://schemas.microsoft.com/office/drawing/2014/main" id="{130D2524-DA7F-8FDC-B817-D5C8DA356346}"/>
                  </a:ext>
                </a:extLst>
              </p:cNvPr>
              <p:cNvSpPr>
                <a:spLocks noGrp="1" noRot="1" noChangeAspect="1" noMove="1" noResize="1" noEditPoints="1" noAdjustHandles="1" noChangeArrowheads="1" noChangeShapeType="1" noTextEdit="1"/>
              </p:cNvSpPr>
              <p:nvPr>
                <p:ph idx="1"/>
              </p:nvPr>
            </p:nvSpPr>
            <p:spPr>
              <a:xfrm>
                <a:off x="0" y="3375645"/>
                <a:ext cx="12197576" cy="3482355"/>
              </a:xfrm>
              <a:blipFill>
                <a:blip r:embed="rId4"/>
                <a:stretch>
                  <a:fillRect/>
                </a:stretch>
              </a:blipFill>
            </p:spPr>
            <p:txBody>
              <a:bodyPr/>
              <a:lstStyle/>
              <a:p>
                <a:r>
                  <a:rPr lang="en-GB">
                    <a:noFill/>
                  </a:rPr>
                  <a:t> </a:t>
                </a:r>
              </a:p>
            </p:txBody>
          </p:sp>
        </mc:Fallback>
      </mc:AlternateContent>
      <p:sp>
        <p:nvSpPr>
          <p:cNvPr id="5" name="Title 1">
            <a:extLst>
              <a:ext uri="{FF2B5EF4-FFF2-40B4-BE49-F238E27FC236}">
                <a16:creationId xmlns:a16="http://schemas.microsoft.com/office/drawing/2014/main" id="{F9560C89-834A-B169-9E7D-C56CC2E0DF17}"/>
              </a:ext>
            </a:extLst>
          </p:cNvPr>
          <p:cNvSpPr>
            <a:spLocks noGrp="1"/>
          </p:cNvSpPr>
          <p:nvPr>
            <p:ph type="title"/>
          </p:nvPr>
        </p:nvSpPr>
        <p:spPr>
          <a:xfrm>
            <a:off x="838200" y="365125"/>
            <a:ext cx="10515600" cy="1325563"/>
          </a:xfrm>
        </p:spPr>
        <p:txBody>
          <a:bodyPr/>
          <a:lstStyle/>
          <a:p>
            <a:r>
              <a:rPr lang="en-GB" dirty="0"/>
              <a:t>A uniform quadratic B-spline</a:t>
            </a:r>
          </a:p>
        </p:txBody>
      </p:sp>
      <p:grpSp>
        <p:nvGrpSpPr>
          <p:cNvPr id="6" name="Group 5">
            <a:extLst>
              <a:ext uri="{FF2B5EF4-FFF2-40B4-BE49-F238E27FC236}">
                <a16:creationId xmlns:a16="http://schemas.microsoft.com/office/drawing/2014/main" id="{875FADEF-A56F-8C3F-F316-91A45EE2C277}"/>
              </a:ext>
            </a:extLst>
          </p:cNvPr>
          <p:cNvGrpSpPr/>
          <p:nvPr/>
        </p:nvGrpSpPr>
        <p:grpSpPr>
          <a:xfrm>
            <a:off x="7582830" y="64280"/>
            <a:ext cx="3233859" cy="1626408"/>
            <a:chOff x="2676292" y="4449551"/>
            <a:chExt cx="3233859" cy="1626408"/>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91CF5B-A5D8-009D-4BF9-6EF5DEC5298D}"/>
                    </a:ext>
                  </a:extLst>
                </p:cNvPr>
                <p:cNvSpPr txBox="1"/>
                <p:nvPr/>
              </p:nvSpPr>
              <p:spPr>
                <a:xfrm>
                  <a:off x="2676292" y="4449551"/>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7" name="TextBox 6">
                  <a:extLst>
                    <a:ext uri="{FF2B5EF4-FFF2-40B4-BE49-F238E27FC236}">
                      <a16:creationId xmlns:a16="http://schemas.microsoft.com/office/drawing/2014/main" id="{2691CF5B-A5D8-009D-4BF9-6EF5DEC5298D}"/>
                    </a:ext>
                  </a:extLst>
                </p:cNvPr>
                <p:cNvSpPr txBox="1">
                  <a:spLocks noRot="1" noChangeAspect="1" noMove="1" noResize="1" noEditPoints="1" noAdjustHandles="1" noChangeArrowheads="1" noChangeShapeType="1" noTextEdit="1"/>
                </p:cNvSpPr>
                <p:nvPr/>
              </p:nvSpPr>
              <p:spPr>
                <a:xfrm>
                  <a:off x="2676292" y="4449551"/>
                  <a:ext cx="635619" cy="542136"/>
                </a:xfrm>
                <a:prstGeom prst="rect">
                  <a:avLst/>
                </a:prstGeom>
                <a:blipFill>
                  <a:blip r:embed="rId5"/>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A61488E-0995-7BA8-03C9-D6B4A61DFF13}"/>
                    </a:ext>
                  </a:extLst>
                </p:cNvPr>
                <p:cNvSpPr txBox="1"/>
                <p:nvPr/>
              </p:nvSpPr>
              <p:spPr>
                <a:xfrm>
                  <a:off x="2676292" y="4991687"/>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8" name="TextBox 7">
                  <a:extLst>
                    <a:ext uri="{FF2B5EF4-FFF2-40B4-BE49-F238E27FC236}">
                      <a16:creationId xmlns:a16="http://schemas.microsoft.com/office/drawing/2014/main" id="{8A61488E-0995-7BA8-03C9-D6B4A61DFF13}"/>
                    </a:ext>
                  </a:extLst>
                </p:cNvPr>
                <p:cNvSpPr txBox="1">
                  <a:spLocks noRot="1" noChangeAspect="1" noMove="1" noResize="1" noEditPoints="1" noAdjustHandles="1" noChangeArrowheads="1" noChangeShapeType="1" noTextEdit="1"/>
                </p:cNvSpPr>
                <p:nvPr/>
              </p:nvSpPr>
              <p:spPr>
                <a:xfrm>
                  <a:off x="2676292" y="4991687"/>
                  <a:ext cx="635619" cy="542136"/>
                </a:xfrm>
                <a:prstGeom prst="rect">
                  <a:avLst/>
                </a:prstGeom>
                <a:blipFill>
                  <a:blip r:embed="rId6"/>
                  <a:stretch>
                    <a:fillRect r="-28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0AF616-A67C-19C3-2A01-D3D8AECC37EC}"/>
                    </a:ext>
                  </a:extLst>
                </p:cNvPr>
                <p:cNvSpPr txBox="1"/>
                <p:nvPr/>
              </p:nvSpPr>
              <p:spPr>
                <a:xfrm>
                  <a:off x="2676292" y="5533823"/>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lang="en-GB" dirty="0"/>
                </a:p>
              </p:txBody>
            </p:sp>
          </mc:Choice>
          <mc:Fallback xmlns="">
            <p:sp>
              <p:nvSpPr>
                <p:cNvPr id="9" name="TextBox 8">
                  <a:extLst>
                    <a:ext uri="{FF2B5EF4-FFF2-40B4-BE49-F238E27FC236}">
                      <a16:creationId xmlns:a16="http://schemas.microsoft.com/office/drawing/2014/main" id="{B70AF616-A67C-19C3-2A01-D3D8AECC37EC}"/>
                    </a:ext>
                  </a:extLst>
                </p:cNvPr>
                <p:cNvSpPr txBox="1">
                  <a:spLocks noRot="1" noChangeAspect="1" noMove="1" noResize="1" noEditPoints="1" noAdjustHandles="1" noChangeArrowheads="1" noChangeShapeType="1" noTextEdit="1"/>
                </p:cNvSpPr>
                <p:nvPr/>
              </p:nvSpPr>
              <p:spPr>
                <a:xfrm>
                  <a:off x="2676292" y="5533823"/>
                  <a:ext cx="635619" cy="542136"/>
                </a:xfrm>
                <a:prstGeom prst="rect">
                  <a:avLst/>
                </a:prstGeom>
                <a:blipFill>
                  <a:blip r:embed="rId7"/>
                  <a:stretch>
                    <a:fillRect r="-48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9F9F5D9-2045-C8A8-892A-3DEADB55F944}"/>
                    </a:ext>
                  </a:extLst>
                </p:cNvPr>
                <p:cNvSpPr txBox="1"/>
                <p:nvPr/>
              </p:nvSpPr>
              <p:spPr>
                <a:xfrm>
                  <a:off x="3954967" y="4720619"/>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en-GB" dirty="0"/>
                </a:p>
              </p:txBody>
            </p:sp>
          </mc:Choice>
          <mc:Fallback xmlns="">
            <p:sp>
              <p:nvSpPr>
                <p:cNvPr id="10" name="TextBox 9">
                  <a:extLst>
                    <a:ext uri="{FF2B5EF4-FFF2-40B4-BE49-F238E27FC236}">
                      <a16:creationId xmlns:a16="http://schemas.microsoft.com/office/drawing/2014/main" id="{99F9F5D9-2045-C8A8-892A-3DEADB55F944}"/>
                    </a:ext>
                  </a:extLst>
                </p:cNvPr>
                <p:cNvSpPr txBox="1">
                  <a:spLocks noRot="1" noChangeAspect="1" noMove="1" noResize="1" noEditPoints="1" noAdjustHandles="1" noChangeArrowheads="1" noChangeShapeType="1" noTextEdit="1"/>
                </p:cNvSpPr>
                <p:nvPr/>
              </p:nvSpPr>
              <p:spPr>
                <a:xfrm>
                  <a:off x="3954967" y="4720619"/>
                  <a:ext cx="635619" cy="542136"/>
                </a:xfrm>
                <a:prstGeom prst="rect">
                  <a:avLst/>
                </a:prstGeom>
                <a:blipFill>
                  <a:blip r:embed="rId8"/>
                  <a:stretch>
                    <a:fillRect r="-38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6470A9-1622-7F37-BB8A-5444D41E86C5}"/>
                    </a:ext>
                  </a:extLst>
                </p:cNvPr>
                <p:cNvSpPr txBox="1"/>
                <p:nvPr/>
              </p:nvSpPr>
              <p:spPr>
                <a:xfrm>
                  <a:off x="3973553" y="5262755"/>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en-GB" dirty="0"/>
                </a:p>
              </p:txBody>
            </p:sp>
          </mc:Choice>
          <mc:Fallback xmlns="">
            <p:sp>
              <p:nvSpPr>
                <p:cNvPr id="11" name="TextBox 10">
                  <a:extLst>
                    <a:ext uri="{FF2B5EF4-FFF2-40B4-BE49-F238E27FC236}">
                      <a16:creationId xmlns:a16="http://schemas.microsoft.com/office/drawing/2014/main" id="{716470A9-1622-7F37-BB8A-5444D41E86C5}"/>
                    </a:ext>
                  </a:extLst>
                </p:cNvPr>
                <p:cNvSpPr txBox="1">
                  <a:spLocks noRot="1" noChangeAspect="1" noMove="1" noResize="1" noEditPoints="1" noAdjustHandles="1" noChangeArrowheads="1" noChangeShapeType="1" noTextEdit="1"/>
                </p:cNvSpPr>
                <p:nvPr/>
              </p:nvSpPr>
              <p:spPr>
                <a:xfrm>
                  <a:off x="3973553" y="5262755"/>
                  <a:ext cx="635619" cy="542136"/>
                </a:xfrm>
                <a:prstGeom prst="rect">
                  <a:avLst/>
                </a:prstGeom>
                <a:blipFill>
                  <a:blip r:embed="rId9"/>
                  <a:stretch>
                    <a:fillRect r="-192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04338E9-3E54-3BCB-066E-7C79A9D32E5E}"/>
                    </a:ext>
                  </a:extLst>
                </p:cNvPr>
                <p:cNvSpPr txBox="1"/>
                <p:nvPr/>
              </p:nvSpPr>
              <p:spPr>
                <a:xfrm>
                  <a:off x="5274532" y="4991687"/>
                  <a:ext cx="635619" cy="542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GB" sz="2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en-GB" dirty="0"/>
                </a:p>
              </p:txBody>
            </p:sp>
          </mc:Choice>
          <mc:Fallback xmlns="">
            <p:sp>
              <p:nvSpPr>
                <p:cNvPr id="12" name="TextBox 11">
                  <a:extLst>
                    <a:ext uri="{FF2B5EF4-FFF2-40B4-BE49-F238E27FC236}">
                      <a16:creationId xmlns:a16="http://schemas.microsoft.com/office/drawing/2014/main" id="{F04338E9-3E54-3BCB-066E-7C79A9D32E5E}"/>
                    </a:ext>
                  </a:extLst>
                </p:cNvPr>
                <p:cNvSpPr txBox="1">
                  <a:spLocks noRot="1" noChangeAspect="1" noMove="1" noResize="1" noEditPoints="1" noAdjustHandles="1" noChangeArrowheads="1" noChangeShapeType="1" noTextEdit="1"/>
                </p:cNvSpPr>
                <p:nvPr/>
              </p:nvSpPr>
              <p:spPr>
                <a:xfrm>
                  <a:off x="5274532" y="4991687"/>
                  <a:ext cx="635619" cy="542136"/>
                </a:xfrm>
                <a:prstGeom prst="rect">
                  <a:avLst/>
                </a:prstGeom>
                <a:blipFill>
                  <a:blip r:embed="rId10"/>
                  <a:stretch>
                    <a:fillRect r="-3846"/>
                  </a:stretch>
                </a:blipFill>
              </p:spPr>
              <p:txBody>
                <a:bodyPr/>
                <a:lstStyle/>
                <a:p>
                  <a:r>
                    <a:rPr lang="en-GB">
                      <a:noFill/>
                    </a:rPr>
                    <a:t> </a:t>
                  </a:r>
                </a:p>
              </p:txBody>
            </p:sp>
          </mc:Fallback>
        </mc:AlternateContent>
        <p:cxnSp>
          <p:nvCxnSpPr>
            <p:cNvPr id="13" name="Straight Arrow Connector 12">
              <a:extLst>
                <a:ext uri="{FF2B5EF4-FFF2-40B4-BE49-F238E27FC236}">
                  <a16:creationId xmlns:a16="http://schemas.microsoft.com/office/drawing/2014/main" id="{7DCD84A8-039C-E3EE-39FC-3654D58B5E49}"/>
                </a:ext>
              </a:extLst>
            </p:cNvPr>
            <p:cNvCxnSpPr>
              <a:cxnSpLocks/>
              <a:stCxn id="7" idx="3"/>
            </p:cNvCxnSpPr>
            <p:nvPr/>
          </p:nvCxnSpPr>
          <p:spPr>
            <a:xfrm>
              <a:off x="3311911" y="4720619"/>
              <a:ext cx="635619" cy="1860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511290D-9437-E2DF-11B6-4CDE83273B11}"/>
                </a:ext>
              </a:extLst>
            </p:cNvPr>
            <p:cNvCxnSpPr>
              <a:cxnSpLocks/>
              <a:stCxn id="8" idx="3"/>
              <a:endCxn id="10" idx="1"/>
            </p:cNvCxnSpPr>
            <p:nvPr/>
          </p:nvCxnSpPr>
          <p:spPr>
            <a:xfrm flipV="1">
              <a:off x="3311911" y="4991687"/>
              <a:ext cx="643056"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00CD9A9-A679-8830-630E-29A76C0DE36D}"/>
                </a:ext>
              </a:extLst>
            </p:cNvPr>
            <p:cNvCxnSpPr>
              <a:cxnSpLocks/>
              <a:stCxn id="8" idx="3"/>
            </p:cNvCxnSpPr>
            <p:nvPr/>
          </p:nvCxnSpPr>
          <p:spPr>
            <a:xfrm>
              <a:off x="3311911" y="5262755"/>
              <a:ext cx="643056" cy="1860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C5147B6-3F03-6A2F-FE0E-3449D69875C6}"/>
                </a:ext>
              </a:extLst>
            </p:cNvPr>
            <p:cNvCxnSpPr>
              <a:cxnSpLocks/>
              <a:stCxn id="9" idx="3"/>
              <a:endCxn id="11" idx="1"/>
            </p:cNvCxnSpPr>
            <p:nvPr/>
          </p:nvCxnSpPr>
          <p:spPr>
            <a:xfrm flipV="1">
              <a:off x="3311911" y="5533823"/>
              <a:ext cx="661642"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F99AF89-E37D-BF72-7401-C3FAD8826EF3}"/>
                </a:ext>
              </a:extLst>
            </p:cNvPr>
            <p:cNvCxnSpPr>
              <a:cxnSpLocks/>
              <a:stCxn id="11" idx="3"/>
              <a:endCxn id="12" idx="1"/>
            </p:cNvCxnSpPr>
            <p:nvPr/>
          </p:nvCxnSpPr>
          <p:spPr>
            <a:xfrm flipV="1">
              <a:off x="4609172" y="5262755"/>
              <a:ext cx="665360" cy="2710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E770B3C-3FAB-F5DE-3013-CE546AFEC51B}"/>
                </a:ext>
              </a:extLst>
            </p:cNvPr>
            <p:cNvCxnSpPr>
              <a:cxnSpLocks/>
              <a:stCxn id="10" idx="3"/>
            </p:cNvCxnSpPr>
            <p:nvPr/>
          </p:nvCxnSpPr>
          <p:spPr>
            <a:xfrm>
              <a:off x="4590586" y="4991687"/>
              <a:ext cx="669076" cy="2285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FCD76440-BA24-5B63-2253-CBD419E3B399}"/>
              </a:ext>
            </a:extLst>
          </p:cNvPr>
          <p:cNvSpPr/>
          <p:nvPr/>
        </p:nvSpPr>
        <p:spPr>
          <a:xfrm>
            <a:off x="8880091" y="920000"/>
            <a:ext cx="683946" cy="49962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C0AF8A23-E8D9-36AB-E101-A39661F856F4}"/>
              </a:ext>
            </a:extLst>
          </p:cNvPr>
          <p:cNvSpPr/>
          <p:nvPr/>
        </p:nvSpPr>
        <p:spPr>
          <a:xfrm>
            <a:off x="7941348" y="3573332"/>
            <a:ext cx="1066746" cy="51670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5D593149-10DF-1D41-AC80-E963668847B5}"/>
              </a:ext>
            </a:extLst>
          </p:cNvPr>
          <p:cNvSpPr/>
          <p:nvPr/>
        </p:nvSpPr>
        <p:spPr>
          <a:xfrm>
            <a:off x="5579148" y="3573332"/>
            <a:ext cx="1066746" cy="51670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B9F3C0B1-F2DB-B26D-B65A-72C4C7D0C75B}"/>
              </a:ext>
            </a:extLst>
          </p:cNvPr>
          <p:cNvSpPr/>
          <p:nvPr/>
        </p:nvSpPr>
        <p:spPr>
          <a:xfrm>
            <a:off x="8883809" y="365107"/>
            <a:ext cx="683946" cy="49962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5F04B4-276C-369B-E560-59B626DDB575}"/>
              </a:ext>
            </a:extLst>
          </p:cNvPr>
          <p:cNvSpPr/>
          <p:nvPr/>
        </p:nvSpPr>
        <p:spPr>
          <a:xfrm>
            <a:off x="2247132" y="4799285"/>
            <a:ext cx="1066746" cy="51670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1552F34D-945C-CA7A-1D51-4503EFE932BA}"/>
              </a:ext>
            </a:extLst>
          </p:cNvPr>
          <p:cNvSpPr/>
          <p:nvPr/>
        </p:nvSpPr>
        <p:spPr>
          <a:xfrm>
            <a:off x="4598127" y="4799285"/>
            <a:ext cx="1066746" cy="51670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8B4827A8-E8D1-DF70-C525-3CFE77B8AAAF}"/>
              </a:ext>
            </a:extLst>
          </p:cNvPr>
          <p:cNvSpPr/>
          <p:nvPr/>
        </p:nvSpPr>
        <p:spPr>
          <a:xfrm>
            <a:off x="8015868" y="4799285"/>
            <a:ext cx="1066746" cy="51670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4598E6E0-A43D-8F2A-7113-65A8ED59A0F5}"/>
              </a:ext>
            </a:extLst>
          </p:cNvPr>
          <p:cNvSpPr/>
          <p:nvPr/>
        </p:nvSpPr>
        <p:spPr>
          <a:xfrm>
            <a:off x="10366863" y="4799285"/>
            <a:ext cx="1066746" cy="516702"/>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86581841-C0FD-6871-F1B0-059F2F788A5D}"/>
              </a:ext>
            </a:extLst>
          </p:cNvPr>
          <p:cNvSpPr/>
          <p:nvPr/>
        </p:nvSpPr>
        <p:spPr>
          <a:xfrm>
            <a:off x="7606998" y="100427"/>
            <a:ext cx="683946" cy="499620"/>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0A5D7AB6-F791-034A-9E1C-523F7EC1ADA9}"/>
              </a:ext>
            </a:extLst>
          </p:cNvPr>
          <p:cNvSpPr/>
          <p:nvPr/>
        </p:nvSpPr>
        <p:spPr>
          <a:xfrm>
            <a:off x="7607697" y="652021"/>
            <a:ext cx="683946" cy="49962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9EDB086A-4E29-0DA6-7083-94F48B6224C5}"/>
              </a:ext>
            </a:extLst>
          </p:cNvPr>
          <p:cNvSpPr/>
          <p:nvPr/>
        </p:nvSpPr>
        <p:spPr>
          <a:xfrm>
            <a:off x="7606998" y="1203566"/>
            <a:ext cx="683946" cy="499620"/>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420C1B0E-073B-963F-0F10-8CDF6F4C2233}"/>
                  </a:ext>
                </a:extLst>
              </p:cNvPr>
              <p:cNvSpPr txBox="1"/>
              <p:nvPr/>
            </p:nvSpPr>
            <p:spPr>
              <a:xfrm>
                <a:off x="1115122" y="1997429"/>
                <a:ext cx="10165395" cy="11348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32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3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d>
                        <m:d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3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3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num>
                        <m:den>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3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sSub>
                        <m:sSub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GB" sz="3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𝑗</m:t>
                          </m:r>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3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GB" dirty="0"/>
              </a:p>
            </p:txBody>
          </p:sp>
        </mc:Choice>
        <mc:Fallback>
          <p:sp>
            <p:nvSpPr>
              <p:cNvPr id="39" name="TextBox 38">
                <a:extLst>
                  <a:ext uri="{FF2B5EF4-FFF2-40B4-BE49-F238E27FC236}">
                    <a16:creationId xmlns:a16="http://schemas.microsoft.com/office/drawing/2014/main" id="{420C1B0E-073B-963F-0F10-8CDF6F4C2233}"/>
                  </a:ext>
                </a:extLst>
              </p:cNvPr>
              <p:cNvSpPr txBox="1">
                <a:spLocks noRot="1" noChangeAspect="1" noMove="1" noResize="1" noEditPoints="1" noAdjustHandles="1" noChangeArrowheads="1" noChangeShapeType="1" noTextEdit="1"/>
              </p:cNvSpPr>
              <p:nvPr/>
            </p:nvSpPr>
            <p:spPr>
              <a:xfrm>
                <a:off x="1115122" y="1997429"/>
                <a:ext cx="10165395" cy="1134862"/>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41497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24"/>
                                        </p:tgtEl>
                                      </p:cBhvr>
                                    </p:animEffect>
                                    <p:set>
                                      <p:cBhvr>
                                        <p:cTn id="26" dur="1" fill="hold">
                                          <p:stCondLst>
                                            <p:cond delay="499"/>
                                          </p:stCondLst>
                                        </p:cTn>
                                        <p:tgtEl>
                                          <p:spTgt spid="24"/>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23"/>
                                        </p:tgtEl>
                                      </p:cBhvr>
                                    </p:animEffect>
                                    <p:set>
                                      <p:cBhvr>
                                        <p:cTn id="29" dur="1" fill="hold">
                                          <p:stCondLst>
                                            <p:cond delay="499"/>
                                          </p:stCondLst>
                                        </p:cTn>
                                        <p:tgtEl>
                                          <p:spTgt spid="23"/>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21"/>
                                        </p:tgtEl>
                                      </p:cBhvr>
                                    </p:animEffect>
                                    <p:set>
                                      <p:cBhvr>
                                        <p:cTn id="32" dur="1" fill="hold">
                                          <p:stCondLst>
                                            <p:cond delay="499"/>
                                          </p:stCondLst>
                                        </p:cTn>
                                        <p:tgtEl>
                                          <p:spTgt spid="21"/>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26"/>
                                        </p:tgtEl>
                                      </p:cBhvr>
                                    </p:animEffect>
                                    <p:set>
                                      <p:cBhvr>
                                        <p:cTn id="35" dur="1" fill="hold">
                                          <p:stCondLst>
                                            <p:cond delay="499"/>
                                          </p:stCondLst>
                                        </p:cTn>
                                        <p:tgtEl>
                                          <p:spTgt spid="26"/>
                                        </p:tgtEl>
                                        <p:attrNameLst>
                                          <p:attrName>style.visibility</p:attrName>
                                        </p:attrNameLst>
                                      </p:cBhvr>
                                      <p:to>
                                        <p:strVal val="hidden"/>
                                      </p:to>
                                    </p:se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500"/>
                                        <p:tgtEl>
                                          <p:spTgt spid="3">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0" nodeType="clickEffect">
                                  <p:stCondLst>
                                    <p:cond delay="0"/>
                                  </p:stCondLst>
                                  <p:childTnLst>
                                    <p:animEffect transition="out" filter="fade">
                                      <p:cBhvr>
                                        <p:cTn id="66" dur="500"/>
                                        <p:tgtEl>
                                          <p:spTgt spid="39"/>
                                        </p:tgtEl>
                                      </p:cBhvr>
                                    </p:animEffect>
                                    <p:set>
                                      <p:cBhvr>
                                        <p:cTn id="67" dur="1" fill="hold">
                                          <p:stCondLst>
                                            <p:cond delay="499"/>
                                          </p:stCondLst>
                                        </p:cTn>
                                        <p:tgtEl>
                                          <p:spTgt spid="39"/>
                                        </p:tgtEl>
                                        <p:attrNameLst>
                                          <p:attrName>style.visibility</p:attrName>
                                        </p:attrNameLst>
                                      </p:cBhvr>
                                      <p:to>
                                        <p:strVal val="hidden"/>
                                      </p:to>
                                    </p:set>
                                  </p:childTnLst>
                                </p:cTn>
                              </p:par>
                              <p:par>
                                <p:cTn id="68" presetID="10"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fade">
                                      <p:cBhvr>
                                        <p:cTn id="70" dur="500"/>
                                        <p:tgtEl>
                                          <p:spTgt spid="4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1" nodeType="clickEffect">
                                  <p:stCondLst>
                                    <p:cond delay="0"/>
                                  </p:stCondLst>
                                  <p:childTnLst>
                                    <p:animEffect transition="out" filter="fade">
                                      <p:cBhvr>
                                        <p:cTn id="74" dur="500"/>
                                        <p:tgtEl>
                                          <p:spTgt spid="27"/>
                                        </p:tgtEl>
                                      </p:cBhvr>
                                    </p:animEffect>
                                    <p:set>
                                      <p:cBhvr>
                                        <p:cTn id="75" dur="1" fill="hold">
                                          <p:stCondLst>
                                            <p:cond delay="499"/>
                                          </p:stCondLst>
                                        </p:cTn>
                                        <p:tgtEl>
                                          <p:spTgt spid="27"/>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500"/>
                                        <p:tgtEl>
                                          <p:spTgt spid="29"/>
                                        </p:tgtEl>
                                      </p:cBhvr>
                                    </p:animEffect>
                                    <p:set>
                                      <p:cBhvr>
                                        <p:cTn id="78" dur="1" fill="hold">
                                          <p:stCondLst>
                                            <p:cond delay="499"/>
                                          </p:stCondLst>
                                        </p:cTn>
                                        <p:tgtEl>
                                          <p:spTgt spid="29"/>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30"/>
                                        </p:tgtEl>
                                      </p:cBhvr>
                                    </p:animEffect>
                                    <p:set>
                                      <p:cBhvr>
                                        <p:cTn id="81" dur="1" fill="hold">
                                          <p:stCondLst>
                                            <p:cond delay="499"/>
                                          </p:stCondLst>
                                        </p:cTn>
                                        <p:tgtEl>
                                          <p:spTgt spid="30"/>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32"/>
                                        </p:tgtEl>
                                      </p:cBhvr>
                                    </p:animEffect>
                                    <p:set>
                                      <p:cBhvr>
                                        <p:cTn id="84" dur="1" fill="hold">
                                          <p:stCondLst>
                                            <p:cond delay="499"/>
                                          </p:stCondLst>
                                        </p:cTn>
                                        <p:tgtEl>
                                          <p:spTgt spid="32"/>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35"/>
                                        </p:tgtEl>
                                      </p:cBhvr>
                                    </p:animEffect>
                                    <p:set>
                                      <p:cBhvr>
                                        <p:cTn id="87" dur="1" fill="hold">
                                          <p:stCondLst>
                                            <p:cond delay="499"/>
                                          </p:stCondLst>
                                        </p:cTn>
                                        <p:tgtEl>
                                          <p:spTgt spid="35"/>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500"/>
                                        <p:tgtEl>
                                          <p:spTgt spid="34"/>
                                        </p:tgtEl>
                                      </p:cBhvr>
                                    </p:animEffect>
                                    <p:set>
                                      <p:cBhvr>
                                        <p:cTn id="90" dur="1" fill="hold">
                                          <p:stCondLst>
                                            <p:cond delay="499"/>
                                          </p:stCondLst>
                                        </p:cTn>
                                        <p:tgtEl>
                                          <p:spTgt spid="34"/>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500"/>
                                        <p:tgtEl>
                                          <p:spTgt spid="33"/>
                                        </p:tgtEl>
                                      </p:cBhvr>
                                    </p:animEffect>
                                    <p:set>
                                      <p:cBhvr>
                                        <p:cTn id="93" dur="1" fill="hold">
                                          <p:stCondLst>
                                            <p:cond delay="499"/>
                                          </p:stCondLst>
                                        </p:cTn>
                                        <p:tgtEl>
                                          <p:spTgt spid="33"/>
                                        </p:tgtEl>
                                        <p:attrNameLst>
                                          <p:attrName>style.visibility</p:attrName>
                                        </p:attrNameLst>
                                      </p:cBhvr>
                                      <p:to>
                                        <p:strVal val="hidden"/>
                                      </p:to>
                                    </p:set>
                                  </p:childTnLst>
                                </p:cTn>
                              </p:par>
                            </p:childTnLst>
                          </p:cTn>
                        </p:par>
                        <p:par>
                          <p:cTn id="94" fill="hold">
                            <p:stCondLst>
                              <p:cond delay="500"/>
                            </p:stCondLst>
                            <p:childTnLst>
                              <p:par>
                                <p:cTn id="95" presetID="10" presetClass="entr" presetSubtype="0" fill="hold" grpId="0" nodeType="afterEffect">
                                  <p:stCondLst>
                                    <p:cond delay="0"/>
                                  </p:stCondLst>
                                  <p:childTnLst>
                                    <p:set>
                                      <p:cBhvr>
                                        <p:cTn id="96" dur="1" fill="hold">
                                          <p:stCondLst>
                                            <p:cond delay="0"/>
                                          </p:stCondLst>
                                        </p:cTn>
                                        <p:tgtEl>
                                          <p:spTgt spid="3">
                                            <p:txEl>
                                              <p:pRg st="4" end="4"/>
                                            </p:txEl>
                                          </p:spTgt>
                                        </p:tgtEl>
                                        <p:attrNameLst>
                                          <p:attrName>style.visibility</p:attrName>
                                        </p:attrNameLst>
                                      </p:cBhvr>
                                      <p:to>
                                        <p:strVal val="visible"/>
                                      </p:to>
                                    </p:set>
                                    <p:animEffect transition="in" filter="fade">
                                      <p:cBhvr>
                                        <p:cTn id="9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3" grpId="0" uiExpand="1" build="p"/>
      <p:bldP spid="21" grpId="0" animBg="1"/>
      <p:bldP spid="21" grpId="1" animBg="1"/>
      <p:bldP spid="23" grpId="0" animBg="1"/>
      <p:bldP spid="23" grpId="1" animBg="1"/>
      <p:bldP spid="24" grpId="0" animBg="1"/>
      <p:bldP spid="24" grpId="1" animBg="1"/>
      <p:bldP spid="26" grpId="0" animBg="1"/>
      <p:bldP spid="26" grpId="1" animBg="1"/>
      <p:bldP spid="27" grpId="0" animBg="1"/>
      <p:bldP spid="27" grpId="1" animBg="1"/>
      <p:bldP spid="29" grpId="0" animBg="1"/>
      <p:bldP spid="29" grpId="1" animBg="1"/>
      <p:bldP spid="30" grpId="0" animBg="1"/>
      <p:bldP spid="30" grpId="1" animBg="1"/>
      <p:bldP spid="32" grpId="0" animBg="1"/>
      <p:bldP spid="32" grpId="1" animBg="1"/>
      <p:bldP spid="33" grpId="0" animBg="1"/>
      <p:bldP spid="33" grpId="1" animBg="1"/>
      <p:bldP spid="34" grpId="0" animBg="1"/>
      <p:bldP spid="34" grpId="1" animBg="1"/>
      <p:bldP spid="35" grpId="0" animBg="1"/>
      <p:bldP spid="35" grpId="1" animBg="1"/>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12D8CB-6562-63FA-4BAC-7E158EE002DF}"/>
                  </a:ext>
                </a:extLst>
              </p:cNvPr>
              <p:cNvSpPr>
                <a:spLocks noGrp="1"/>
              </p:cNvSpPr>
              <p:nvPr>
                <p:ph idx="1"/>
              </p:nvPr>
            </p:nvSpPr>
            <p:spPr>
              <a:xfrm>
                <a:off x="1830658" y="4142930"/>
                <a:ext cx="6114583" cy="2349945"/>
              </a:xfrm>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e>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−1</m:t>
                                      </m:r>
                                    </m:e>
                                  </m:d>
                                </m:e>
                                <m:sup>
                                  <m:r>
                                    <a:rPr lang="en-GB" b="0" i="1" smtClean="0">
                                      <a:latin typeface="Cambria Math" panose="02040503050406030204" pitchFamily="18" charset="0"/>
                                    </a:rPr>
                                    <m:t>2</m:t>
                                  </m:r>
                                </m:sup>
                              </m:sSup>
                              <m:r>
                                <a:rPr lang="en-GB" b="0" i="1" smtClean="0">
                                  <a:latin typeface="Cambria Math" panose="02040503050406030204" pitchFamily="18" charset="0"/>
                                </a:rPr>
                                <m:t>+2</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−1</m:t>
                                  </m:r>
                                </m:e>
                              </m:d>
                              <m:r>
                                <a:rPr lang="en-GB" b="0" i="1" smtClean="0">
                                  <a:latin typeface="Cambria Math" panose="02040503050406030204" pitchFamily="18" charset="0"/>
                                </a:rPr>
                                <m:t>+1] </m:t>
                              </m:r>
                            </m:e>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r>
                                <a:rPr lang="en-GB" b="0" i="1" smtClean="0">
                                  <a:latin typeface="Cambria Math" panose="02040503050406030204" pitchFamily="18" charset="0"/>
                                </a:rPr>
                                <m:t>−2</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−2</m:t>
                                  </m:r>
                                </m:e>
                              </m:d>
                              <m:r>
                                <a:rPr lang="en-GB" b="0" i="1" smtClean="0">
                                  <a:latin typeface="Cambria Math" panose="02040503050406030204" pitchFamily="18" charset="0"/>
                                </a:rPr>
                                <m:t>+1] </m:t>
                              </m:r>
                            </m:e>
                            <m:e>
                              <m:r>
                                <a:rPr lang="en-GB" b="0" i="1" smtClean="0">
                                  <a:latin typeface="Cambria Math" panose="02040503050406030204" pitchFamily="18" charset="0"/>
                                </a:rPr>
                                <m:t>0</m:t>
                              </m:r>
                            </m:e>
                          </m:eqArr>
                        </m:e>
                      </m:d>
                    </m:oMath>
                  </m:oMathPara>
                </a14:m>
                <a:endParaRPr lang="en-GB" dirty="0"/>
              </a:p>
            </p:txBody>
          </p:sp>
        </mc:Choice>
        <mc:Fallback xmlns="">
          <p:sp>
            <p:nvSpPr>
              <p:cNvPr id="3" name="Content Placeholder 2">
                <a:extLst>
                  <a:ext uri="{FF2B5EF4-FFF2-40B4-BE49-F238E27FC236}">
                    <a16:creationId xmlns:a16="http://schemas.microsoft.com/office/drawing/2014/main" id="{CD12D8CB-6562-63FA-4BAC-7E158EE002DF}"/>
                  </a:ext>
                </a:extLst>
              </p:cNvPr>
              <p:cNvSpPr>
                <a:spLocks noGrp="1" noRot="1" noChangeAspect="1" noMove="1" noResize="1" noEditPoints="1" noAdjustHandles="1" noChangeArrowheads="1" noChangeShapeType="1" noTextEdit="1"/>
              </p:cNvSpPr>
              <p:nvPr>
                <p:ph idx="1"/>
              </p:nvPr>
            </p:nvSpPr>
            <p:spPr>
              <a:xfrm>
                <a:off x="1830658" y="4142930"/>
                <a:ext cx="6114583" cy="2349945"/>
              </a:xfrm>
              <a:blipFill>
                <a:blip r:embed="rId2"/>
                <a:stretch>
                  <a:fillRect t="-4416"/>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8F2100C6-02BD-7EFC-9DA8-C9A81CD757D8}"/>
              </a:ext>
            </a:extLst>
          </p:cNvPr>
          <p:cNvSpPr>
            <a:spLocks noGrp="1"/>
          </p:cNvSpPr>
          <p:nvPr>
            <p:ph type="title"/>
          </p:nvPr>
        </p:nvSpPr>
        <p:spPr>
          <a:xfrm>
            <a:off x="838200" y="365125"/>
            <a:ext cx="10515600" cy="1325563"/>
          </a:xfrm>
        </p:spPr>
        <p:txBody>
          <a:bodyPr/>
          <a:lstStyle/>
          <a:p>
            <a:r>
              <a:rPr lang="en-GB" dirty="0"/>
              <a:t>A uniform quadratic B-spline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1493E10-FA25-B8DD-39CC-49469065A082}"/>
                  </a:ext>
                </a:extLst>
              </p:cNvPr>
              <p:cNvSpPr txBox="1"/>
              <p:nvPr/>
            </p:nvSpPr>
            <p:spPr>
              <a:xfrm>
                <a:off x="7945243" y="4210399"/>
                <a:ext cx="1678259" cy="461665"/>
              </a:xfrm>
              <a:prstGeom prst="rect">
                <a:avLst/>
              </a:prstGeom>
              <a:noFill/>
            </p:spPr>
            <p:txBody>
              <a:bodyPr wrap="square" rtlCol="0">
                <a:spAutoFit/>
              </a:bodyPr>
              <a:lstStyle/>
              <a:p>
                <a:r>
                  <a:rPr lang="en-GB" sz="2400" dirty="0"/>
                  <a:t>if </a:t>
                </a:r>
                <a14:m>
                  <m:oMath xmlns:m="http://schemas.openxmlformats.org/officeDocument/2006/math">
                    <m:r>
                      <a:rPr lang="en-GB" sz="2400" b="0" i="1" smtClean="0">
                        <a:latin typeface="Cambria Math" panose="02040503050406030204" pitchFamily="18" charset="0"/>
                      </a:rPr>
                      <m:t>0</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𝑡</m:t>
                    </m:r>
                    <m:r>
                      <a:rPr lang="en-GB" sz="2400" b="0" i="1" smtClean="0">
                        <a:latin typeface="Cambria Math" panose="02040503050406030204" pitchFamily="18" charset="0"/>
                        <a:ea typeface="Cambria Math" panose="02040503050406030204" pitchFamily="18" charset="0"/>
                      </a:rPr>
                      <m:t>&lt;1</m:t>
                    </m:r>
                  </m:oMath>
                </a14:m>
                <a:endParaRPr lang="en-GB" sz="2400" dirty="0"/>
              </a:p>
            </p:txBody>
          </p:sp>
        </mc:Choice>
        <mc:Fallback xmlns="">
          <p:sp>
            <p:nvSpPr>
              <p:cNvPr id="5" name="TextBox 4">
                <a:extLst>
                  <a:ext uri="{FF2B5EF4-FFF2-40B4-BE49-F238E27FC236}">
                    <a16:creationId xmlns:a16="http://schemas.microsoft.com/office/drawing/2014/main" id="{41493E10-FA25-B8DD-39CC-49469065A082}"/>
                  </a:ext>
                </a:extLst>
              </p:cNvPr>
              <p:cNvSpPr txBox="1">
                <a:spLocks noRot="1" noChangeAspect="1" noMove="1" noResize="1" noEditPoints="1" noAdjustHandles="1" noChangeArrowheads="1" noChangeShapeType="1" noTextEdit="1"/>
              </p:cNvSpPr>
              <p:nvPr/>
            </p:nvSpPr>
            <p:spPr>
              <a:xfrm>
                <a:off x="7945243" y="4210399"/>
                <a:ext cx="1678259" cy="461665"/>
              </a:xfrm>
              <a:prstGeom prst="rect">
                <a:avLst/>
              </a:prstGeom>
              <a:blipFill>
                <a:blip r:embed="rId3"/>
                <a:stretch>
                  <a:fillRect l="-5435" t="-10667" r="-725" b="-30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8003FC1-9BC1-D1DE-991D-8B3469AA7880}"/>
                  </a:ext>
                </a:extLst>
              </p:cNvPr>
              <p:cNvSpPr txBox="1"/>
              <p:nvPr/>
            </p:nvSpPr>
            <p:spPr>
              <a:xfrm>
                <a:off x="7945242" y="4856238"/>
                <a:ext cx="1678259" cy="461665"/>
              </a:xfrm>
              <a:prstGeom prst="rect">
                <a:avLst/>
              </a:prstGeom>
              <a:noFill/>
            </p:spPr>
            <p:txBody>
              <a:bodyPr wrap="square" rtlCol="0">
                <a:spAutoFit/>
              </a:bodyPr>
              <a:lstStyle/>
              <a:p>
                <a:r>
                  <a:rPr lang="en-GB" sz="2400" dirty="0"/>
                  <a:t>if </a:t>
                </a:r>
                <a14:m>
                  <m:oMath xmlns:m="http://schemas.openxmlformats.org/officeDocument/2006/math">
                    <m:r>
                      <a:rPr lang="en-GB" sz="2400" i="1">
                        <a:latin typeface="Cambria Math" panose="02040503050406030204" pitchFamily="18" charset="0"/>
                      </a:rPr>
                      <m:t>1</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𝑡</m:t>
                    </m:r>
                    <m:r>
                      <a:rPr lang="en-GB" sz="2400" b="0" i="1" smtClean="0">
                        <a:latin typeface="Cambria Math" panose="02040503050406030204" pitchFamily="18" charset="0"/>
                        <a:ea typeface="Cambria Math" panose="02040503050406030204" pitchFamily="18" charset="0"/>
                      </a:rPr>
                      <m:t>&lt;2</m:t>
                    </m:r>
                  </m:oMath>
                </a14:m>
                <a:endParaRPr lang="en-GB" sz="2400" dirty="0"/>
              </a:p>
            </p:txBody>
          </p:sp>
        </mc:Choice>
        <mc:Fallback xmlns="">
          <p:sp>
            <p:nvSpPr>
              <p:cNvPr id="6" name="TextBox 5">
                <a:extLst>
                  <a:ext uri="{FF2B5EF4-FFF2-40B4-BE49-F238E27FC236}">
                    <a16:creationId xmlns:a16="http://schemas.microsoft.com/office/drawing/2014/main" id="{A8003FC1-9BC1-D1DE-991D-8B3469AA7880}"/>
                  </a:ext>
                </a:extLst>
              </p:cNvPr>
              <p:cNvSpPr txBox="1">
                <a:spLocks noRot="1" noChangeAspect="1" noMove="1" noResize="1" noEditPoints="1" noAdjustHandles="1" noChangeArrowheads="1" noChangeShapeType="1" noTextEdit="1"/>
              </p:cNvSpPr>
              <p:nvPr/>
            </p:nvSpPr>
            <p:spPr>
              <a:xfrm>
                <a:off x="7945242" y="4856238"/>
                <a:ext cx="1678259" cy="461665"/>
              </a:xfrm>
              <a:prstGeom prst="rect">
                <a:avLst/>
              </a:prstGeom>
              <a:blipFill>
                <a:blip r:embed="rId4"/>
                <a:stretch>
                  <a:fillRect l="-5435" t="-10667" r="-725" b="-30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FFB2A6B-0C11-1E94-CB7C-7A02A3C68E09}"/>
                  </a:ext>
                </a:extLst>
              </p:cNvPr>
              <p:cNvSpPr txBox="1"/>
              <p:nvPr/>
            </p:nvSpPr>
            <p:spPr>
              <a:xfrm>
                <a:off x="7945242" y="5502077"/>
                <a:ext cx="1678259" cy="461665"/>
              </a:xfrm>
              <a:prstGeom prst="rect">
                <a:avLst/>
              </a:prstGeom>
              <a:noFill/>
            </p:spPr>
            <p:txBody>
              <a:bodyPr wrap="square" rtlCol="0">
                <a:spAutoFit/>
              </a:bodyPr>
              <a:lstStyle/>
              <a:p>
                <a:r>
                  <a:rPr lang="en-GB" sz="2400" dirty="0"/>
                  <a:t>if </a:t>
                </a:r>
                <a14:m>
                  <m:oMath xmlns:m="http://schemas.openxmlformats.org/officeDocument/2006/math">
                    <m:r>
                      <a:rPr lang="en-GB" sz="2400" i="1">
                        <a:latin typeface="Cambria Math" panose="02040503050406030204" pitchFamily="18" charset="0"/>
                      </a:rPr>
                      <m:t>2</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𝑡</m:t>
                    </m:r>
                    <m:r>
                      <a:rPr lang="en-GB" sz="2400" b="0" i="1" smtClean="0">
                        <a:latin typeface="Cambria Math" panose="02040503050406030204" pitchFamily="18" charset="0"/>
                        <a:ea typeface="Cambria Math" panose="02040503050406030204" pitchFamily="18" charset="0"/>
                      </a:rPr>
                      <m:t>&lt;3</m:t>
                    </m:r>
                  </m:oMath>
                </a14:m>
                <a:endParaRPr lang="en-GB" sz="2400" dirty="0"/>
              </a:p>
            </p:txBody>
          </p:sp>
        </mc:Choice>
        <mc:Fallback xmlns="">
          <p:sp>
            <p:nvSpPr>
              <p:cNvPr id="7" name="TextBox 6">
                <a:extLst>
                  <a:ext uri="{FF2B5EF4-FFF2-40B4-BE49-F238E27FC236}">
                    <a16:creationId xmlns:a16="http://schemas.microsoft.com/office/drawing/2014/main" id="{0FFB2A6B-0C11-1E94-CB7C-7A02A3C68E09}"/>
                  </a:ext>
                </a:extLst>
              </p:cNvPr>
              <p:cNvSpPr txBox="1">
                <a:spLocks noRot="1" noChangeAspect="1" noMove="1" noResize="1" noEditPoints="1" noAdjustHandles="1" noChangeArrowheads="1" noChangeShapeType="1" noTextEdit="1"/>
              </p:cNvSpPr>
              <p:nvPr/>
            </p:nvSpPr>
            <p:spPr>
              <a:xfrm>
                <a:off x="7945242" y="5502077"/>
                <a:ext cx="1678259" cy="461665"/>
              </a:xfrm>
              <a:prstGeom prst="rect">
                <a:avLst/>
              </a:prstGeom>
              <a:blipFill>
                <a:blip r:embed="rId5"/>
                <a:stretch>
                  <a:fillRect l="-5435" t="-10667" r="-725" b="-30667"/>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15F5A9D4-9A40-EAF5-2F63-5DBEA25D76A5}"/>
              </a:ext>
            </a:extLst>
          </p:cNvPr>
          <p:cNvSpPr txBox="1"/>
          <p:nvPr/>
        </p:nvSpPr>
        <p:spPr>
          <a:xfrm>
            <a:off x="7945241" y="5997476"/>
            <a:ext cx="1678259" cy="461665"/>
          </a:xfrm>
          <a:prstGeom prst="rect">
            <a:avLst/>
          </a:prstGeom>
          <a:noFill/>
        </p:spPr>
        <p:txBody>
          <a:bodyPr wrap="square" rtlCol="0">
            <a:spAutoFit/>
          </a:bodyPr>
          <a:lstStyle/>
          <a:p>
            <a:r>
              <a:rPr lang="en-GB" sz="2400" dirty="0"/>
              <a:t>otherwise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D394FCF-D1A5-3A16-F746-7B22F6D41513}"/>
                  </a:ext>
                </a:extLst>
              </p:cNvPr>
              <p:cNvSpPr txBox="1"/>
              <p:nvPr/>
            </p:nvSpPr>
            <p:spPr>
              <a:xfrm>
                <a:off x="1748418" y="2085681"/>
                <a:ext cx="8695164"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0,2</m:t>
                          </m:r>
                        </m:sub>
                      </m:sSub>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2</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𝑡</m:t>
                      </m:r>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𝑡</m:t>
                          </m:r>
                        </m:e>
                      </m:d>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𝑡</m:t>
                          </m:r>
                        </m:e>
                      </m:d>
                      <m:d>
                        <m:dPr>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−1</m:t>
                          </m:r>
                        </m:e>
                      </m:d>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1,0</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𝑡</m:t>
                              </m:r>
                            </m:e>
                          </m:d>
                        </m:e>
                        <m:sup>
                          <m:r>
                            <a:rPr lang="en-GB" b="0" i="1" smtClean="0">
                              <a:latin typeface="Cambria Math" panose="02040503050406030204" pitchFamily="18" charset="0"/>
                            </a:rPr>
                            <m:t>2</m:t>
                          </m:r>
                        </m:sup>
                      </m:sSup>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d>
                            <m:dPr>
                              <m:ctrlPr>
                                <a:rPr lang="en-GB" b="0" i="1" smtClean="0">
                                  <a:latin typeface="Cambria Math" panose="02040503050406030204" pitchFamily="18" charset="0"/>
                                </a:rPr>
                              </m:ctrlPr>
                            </m:dPr>
                            <m:e>
                              <m:r>
                                <a:rPr lang="en-GB" b="0" i="1" smtClean="0">
                                  <a:latin typeface="Cambria Math" panose="02040503050406030204" pitchFamily="18" charset="0"/>
                                </a:rPr>
                                <m:t>2,0</m:t>
                              </m:r>
                            </m:e>
                          </m:d>
                        </m:sub>
                      </m:sSub>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oMath>
                  </m:oMathPara>
                </a14:m>
                <a:endParaRPr lang="en-GB" b="0" dirty="0"/>
              </a:p>
            </p:txBody>
          </p:sp>
        </mc:Choice>
        <mc:Fallback xmlns="">
          <p:sp>
            <p:nvSpPr>
              <p:cNvPr id="9" name="TextBox 8">
                <a:extLst>
                  <a:ext uri="{FF2B5EF4-FFF2-40B4-BE49-F238E27FC236}">
                    <a16:creationId xmlns:a16="http://schemas.microsoft.com/office/drawing/2014/main" id="{5D394FCF-D1A5-3A16-F746-7B22F6D41513}"/>
                  </a:ext>
                </a:extLst>
              </p:cNvPr>
              <p:cNvSpPr txBox="1">
                <a:spLocks noRot="1" noChangeAspect="1" noMove="1" noResize="1" noEditPoints="1" noAdjustHandles="1" noChangeArrowheads="1" noChangeShapeType="1" noTextEdit="1"/>
              </p:cNvSpPr>
              <p:nvPr/>
            </p:nvSpPr>
            <p:spPr>
              <a:xfrm>
                <a:off x="1748418" y="2085681"/>
                <a:ext cx="8695164" cy="61093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6D6B76B-3A5D-0F4D-3D7D-74EFAD24C478}"/>
                  </a:ext>
                </a:extLst>
              </p:cNvPr>
              <p:cNvSpPr txBox="1"/>
              <p:nvPr/>
            </p:nvSpPr>
            <p:spPr>
              <a:xfrm>
                <a:off x="428393" y="1308018"/>
                <a:ext cx="609414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1, </m:t>
                              </m:r>
                              <m:r>
                                <m:rPr>
                                  <m:nor/>
                                </m:rPr>
                                <a:rPr lang="en-GB" sz="1800" kern="100">
                                  <a:effectLst/>
                                  <a:latin typeface="Cambria Math" panose="02040503050406030204" pitchFamily="18" charset="0"/>
                                  <a:ea typeface="Times New Roman" panose="02020603050405020304" pitchFamily="18" charset="0"/>
                                  <a:cs typeface="Times New Roman" panose="02020603050405020304" pitchFamily="18" charset="0"/>
                                </a:rPr>
                                <m:t>if</m:t>
                              </m:r>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t>0, </m:t>
                              </m:r>
                              <m:r>
                                <m:rPr>
                                  <m:nor/>
                                </m:rPr>
                                <a:rPr lang="en-GB" sz="1800" kern="100">
                                  <a:effectLst/>
                                  <a:latin typeface="Cambria Math" panose="02040503050406030204" pitchFamily="18" charset="0"/>
                                  <a:ea typeface="Times New Roman" panose="02020603050405020304" pitchFamily="18" charset="0"/>
                                  <a:cs typeface="Times New Roman" panose="02020603050405020304" pitchFamily="18" charset="0"/>
                                </a:rPr>
                                <m:t>otherwise</m:t>
                              </m:r>
                              <m:r>
                                <m:rPr>
                                  <m:nor/>
                                </m:rPr>
                                <a:rPr lang="en-GB" sz="1800" kern="100">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GB" dirty="0"/>
              </a:p>
            </p:txBody>
          </p:sp>
        </mc:Choice>
        <mc:Fallback xmlns="">
          <p:sp>
            <p:nvSpPr>
              <p:cNvPr id="11" name="TextBox 10">
                <a:extLst>
                  <a:ext uri="{FF2B5EF4-FFF2-40B4-BE49-F238E27FC236}">
                    <a16:creationId xmlns:a16="http://schemas.microsoft.com/office/drawing/2014/main" id="{A6D6B76B-3A5D-0F4D-3D7D-74EFAD24C478}"/>
                  </a:ext>
                </a:extLst>
              </p:cNvPr>
              <p:cNvSpPr txBox="1">
                <a:spLocks noRot="1" noChangeAspect="1" noMove="1" noResize="1" noEditPoints="1" noAdjustHandles="1" noChangeArrowheads="1" noChangeShapeType="1" noTextEdit="1"/>
              </p:cNvSpPr>
              <p:nvPr/>
            </p:nvSpPr>
            <p:spPr>
              <a:xfrm>
                <a:off x="428393" y="1308018"/>
                <a:ext cx="6094140" cy="71019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6D6EAE-0499-B3E3-C351-728DF05C0A11}"/>
                  </a:ext>
                </a:extLst>
              </p:cNvPr>
              <p:cNvSpPr txBox="1"/>
              <p:nvPr/>
            </p:nvSpPr>
            <p:spPr>
              <a:xfrm>
                <a:off x="5051502" y="1478449"/>
                <a:ext cx="57846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1" i="0" smtClean="0">
                          <a:latin typeface="Cambria Math" panose="02040503050406030204" pitchFamily="18" charset="0"/>
                        </a:rPr>
                        <m:t>𝐓</m:t>
                      </m:r>
                      <m:r>
                        <a:rPr lang="en-GB" b="1" i="0" smtClean="0">
                          <a:latin typeface="Cambria Math" panose="02040503050406030204" pitchFamily="18" charset="0"/>
                        </a:rPr>
                        <m:t>=</m:t>
                      </m:r>
                      <m:d>
                        <m:dPr>
                          <m:begChr m:val="["/>
                          <m:endChr m:val="]"/>
                          <m:ctrlPr>
                            <a:rPr lang="en-GB" b="1"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3</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4</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5</m:t>
                              </m:r>
                            </m:sub>
                          </m:sSub>
                        </m:e>
                      </m:d>
                      <m:r>
                        <a:rPr lang="en-GB" b="1" i="1" smtClean="0">
                          <a:latin typeface="Cambria Math" panose="02040503050406030204" pitchFamily="18" charset="0"/>
                        </a:rPr>
                        <m:t>=</m:t>
                      </m:r>
                      <m:d>
                        <m:dPr>
                          <m:begChr m:val="["/>
                          <m:endChr m:val="]"/>
                          <m:ctrlPr>
                            <a:rPr lang="en-GB" b="1" i="1" smtClean="0">
                              <a:latin typeface="Cambria Math" panose="02040503050406030204" pitchFamily="18" charset="0"/>
                            </a:rPr>
                          </m:ctrlPr>
                        </m:dPr>
                        <m:e>
                          <m:r>
                            <a:rPr lang="en-GB" b="0" i="1" smtClean="0">
                              <a:latin typeface="Cambria Math" panose="02040503050406030204" pitchFamily="18" charset="0"/>
                            </a:rPr>
                            <m:t>0,1,2,3,4,5</m:t>
                          </m:r>
                        </m:e>
                      </m:d>
                    </m:oMath>
                  </m:oMathPara>
                </a14:m>
                <a:endParaRPr lang="en-GB" dirty="0"/>
              </a:p>
            </p:txBody>
          </p:sp>
        </mc:Choice>
        <mc:Fallback xmlns="">
          <p:sp>
            <p:nvSpPr>
              <p:cNvPr id="13" name="TextBox 12">
                <a:extLst>
                  <a:ext uri="{FF2B5EF4-FFF2-40B4-BE49-F238E27FC236}">
                    <a16:creationId xmlns:a16="http://schemas.microsoft.com/office/drawing/2014/main" id="{496D6EAE-0499-B3E3-C351-728DF05C0A11}"/>
                  </a:ext>
                </a:extLst>
              </p:cNvPr>
              <p:cNvSpPr txBox="1">
                <a:spLocks noRot="1" noChangeAspect="1" noMove="1" noResize="1" noEditPoints="1" noAdjustHandles="1" noChangeArrowheads="1" noChangeShapeType="1" noTextEdit="1"/>
              </p:cNvSpPr>
              <p:nvPr/>
            </p:nvSpPr>
            <p:spPr>
              <a:xfrm>
                <a:off x="5051502" y="1478449"/>
                <a:ext cx="5784694" cy="369332"/>
              </a:xfrm>
              <a:prstGeom prst="rect">
                <a:avLst/>
              </a:prstGeom>
              <a:blipFill>
                <a:blip r:embed="rId8"/>
                <a:stretch>
                  <a:fillRect/>
                </a:stretch>
              </a:blipFill>
            </p:spPr>
            <p:txBody>
              <a:bodyPr/>
              <a:lstStyle/>
              <a:p>
                <a:r>
                  <a:rPr lang="en-GB">
                    <a:noFill/>
                  </a:rPr>
                  <a:t> </a:t>
                </a:r>
              </a:p>
            </p:txBody>
          </p:sp>
        </mc:Fallback>
      </mc:AlternateContent>
      <p:cxnSp>
        <p:nvCxnSpPr>
          <p:cNvPr id="14" name="Straight Connector 13">
            <a:extLst>
              <a:ext uri="{FF2B5EF4-FFF2-40B4-BE49-F238E27FC236}">
                <a16:creationId xmlns:a16="http://schemas.microsoft.com/office/drawing/2014/main" id="{774B58E4-CC76-CFFE-29A0-9AC75F343C95}"/>
              </a:ext>
            </a:extLst>
          </p:cNvPr>
          <p:cNvCxnSpPr/>
          <p:nvPr/>
        </p:nvCxnSpPr>
        <p:spPr>
          <a:xfrm>
            <a:off x="3367668" y="2631837"/>
            <a:ext cx="71367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7153634-AFDF-C56D-946A-14285CDF2CEC}"/>
              </a:ext>
            </a:extLst>
          </p:cNvPr>
          <p:cNvCxnSpPr>
            <a:cxnSpLocks/>
          </p:cNvCxnSpPr>
          <p:nvPr/>
        </p:nvCxnSpPr>
        <p:spPr>
          <a:xfrm flipV="1">
            <a:off x="2464420" y="2631837"/>
            <a:ext cx="903248" cy="732271"/>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7032A44-4D6E-D49F-2823-FD1F63BE2FA6}"/>
              </a:ext>
            </a:extLst>
          </p:cNvPr>
          <p:cNvCxnSpPr>
            <a:cxnSpLocks/>
          </p:cNvCxnSpPr>
          <p:nvPr/>
        </p:nvCxnSpPr>
        <p:spPr>
          <a:xfrm>
            <a:off x="986534" y="3367966"/>
            <a:ext cx="147788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7246BD8-AD8C-D979-739D-5B54EBAF9AFD}"/>
                  </a:ext>
                </a:extLst>
              </p:cNvPr>
              <p:cNvSpPr txBox="1"/>
              <p:nvPr/>
            </p:nvSpPr>
            <p:spPr>
              <a:xfrm>
                <a:off x="986534" y="2902442"/>
                <a:ext cx="1601363" cy="461665"/>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0</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𝑡</m:t>
                      </m:r>
                      <m:r>
                        <a:rPr lang="en-GB" sz="2400" b="0" i="1" smtClean="0">
                          <a:latin typeface="Cambria Math" panose="02040503050406030204" pitchFamily="18" charset="0"/>
                          <a:ea typeface="Cambria Math" panose="02040503050406030204" pitchFamily="18" charset="0"/>
                        </a:rPr>
                        <m:t>&lt;1</m:t>
                      </m:r>
                    </m:oMath>
                  </m:oMathPara>
                </a14:m>
                <a:endParaRPr lang="en-GB" sz="2400" dirty="0"/>
              </a:p>
            </p:txBody>
          </p:sp>
        </mc:Choice>
        <mc:Fallback xmlns="">
          <p:sp>
            <p:nvSpPr>
              <p:cNvPr id="17" name="TextBox 16">
                <a:extLst>
                  <a:ext uri="{FF2B5EF4-FFF2-40B4-BE49-F238E27FC236}">
                    <a16:creationId xmlns:a16="http://schemas.microsoft.com/office/drawing/2014/main" id="{F7246BD8-AD8C-D979-739D-5B54EBAF9AFD}"/>
                  </a:ext>
                </a:extLst>
              </p:cNvPr>
              <p:cNvSpPr txBox="1">
                <a:spLocks noRot="1" noChangeAspect="1" noMove="1" noResize="1" noEditPoints="1" noAdjustHandles="1" noChangeArrowheads="1" noChangeShapeType="1" noTextEdit="1"/>
              </p:cNvSpPr>
              <p:nvPr/>
            </p:nvSpPr>
            <p:spPr>
              <a:xfrm>
                <a:off x="986534" y="2902442"/>
                <a:ext cx="1601363" cy="461665"/>
              </a:xfrm>
              <a:prstGeom prst="rect">
                <a:avLst/>
              </a:prstGeom>
              <a:blipFill>
                <a:blip r:embed="rId9"/>
                <a:stretch>
                  <a:fillRect/>
                </a:stretch>
              </a:blipFill>
            </p:spPr>
            <p:txBody>
              <a:bodyPr/>
              <a:lstStyle/>
              <a:p>
                <a:r>
                  <a:rPr lang="en-GB">
                    <a:noFill/>
                  </a:rPr>
                  <a:t> </a:t>
                </a:r>
              </a:p>
            </p:txBody>
          </p:sp>
        </mc:Fallback>
      </mc:AlternateContent>
      <p:cxnSp>
        <p:nvCxnSpPr>
          <p:cNvPr id="18" name="Straight Connector 17">
            <a:extLst>
              <a:ext uri="{FF2B5EF4-FFF2-40B4-BE49-F238E27FC236}">
                <a16:creationId xmlns:a16="http://schemas.microsoft.com/office/drawing/2014/main" id="{6045D041-3534-B94E-4A4C-A6538B14967B}"/>
              </a:ext>
            </a:extLst>
          </p:cNvPr>
          <p:cNvCxnSpPr>
            <a:cxnSpLocks/>
          </p:cNvCxnSpPr>
          <p:nvPr/>
        </p:nvCxnSpPr>
        <p:spPr>
          <a:xfrm>
            <a:off x="5051502" y="2631837"/>
            <a:ext cx="788019"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2F8E8DD-CD85-9412-2715-BC8083AB2DC2}"/>
              </a:ext>
            </a:extLst>
          </p:cNvPr>
          <p:cNvCxnSpPr>
            <a:cxnSpLocks/>
          </p:cNvCxnSpPr>
          <p:nvPr/>
        </p:nvCxnSpPr>
        <p:spPr>
          <a:xfrm flipH="1" flipV="1">
            <a:off x="5828134" y="2626610"/>
            <a:ext cx="1101881" cy="71890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C86075A-0302-236E-DE19-A65C0E164153}"/>
              </a:ext>
            </a:extLst>
          </p:cNvPr>
          <p:cNvCxnSpPr>
            <a:cxnSpLocks/>
          </p:cNvCxnSpPr>
          <p:nvPr/>
        </p:nvCxnSpPr>
        <p:spPr>
          <a:xfrm>
            <a:off x="4617068" y="3345515"/>
            <a:ext cx="2312947"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4DE62B4-55C3-FDC8-EF06-853CED881871}"/>
                  </a:ext>
                </a:extLst>
              </p:cNvPr>
              <p:cNvSpPr txBox="1"/>
              <p:nvPr/>
            </p:nvSpPr>
            <p:spPr>
              <a:xfrm>
                <a:off x="4156616" y="2934517"/>
                <a:ext cx="2312946" cy="461665"/>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rPr>
                        <m:t>1</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𝑡</m:t>
                      </m:r>
                      <m:r>
                        <a:rPr lang="en-GB" sz="2400" b="0" i="1" smtClean="0">
                          <a:latin typeface="Cambria Math" panose="02040503050406030204" pitchFamily="18" charset="0"/>
                          <a:ea typeface="Cambria Math" panose="02040503050406030204" pitchFamily="18" charset="0"/>
                        </a:rPr>
                        <m:t>&lt;2</m:t>
                      </m:r>
                    </m:oMath>
                  </m:oMathPara>
                </a14:m>
                <a:endParaRPr lang="en-GB" sz="2400" dirty="0"/>
              </a:p>
            </p:txBody>
          </p:sp>
        </mc:Choice>
        <mc:Fallback xmlns="">
          <p:sp>
            <p:nvSpPr>
              <p:cNvPr id="21" name="TextBox 20">
                <a:extLst>
                  <a:ext uri="{FF2B5EF4-FFF2-40B4-BE49-F238E27FC236}">
                    <a16:creationId xmlns:a16="http://schemas.microsoft.com/office/drawing/2014/main" id="{F4DE62B4-55C3-FDC8-EF06-853CED881871}"/>
                  </a:ext>
                </a:extLst>
              </p:cNvPr>
              <p:cNvSpPr txBox="1">
                <a:spLocks noRot="1" noChangeAspect="1" noMove="1" noResize="1" noEditPoints="1" noAdjustHandles="1" noChangeArrowheads="1" noChangeShapeType="1" noTextEdit="1"/>
              </p:cNvSpPr>
              <p:nvPr/>
            </p:nvSpPr>
            <p:spPr>
              <a:xfrm>
                <a:off x="4156616" y="2934517"/>
                <a:ext cx="2312946" cy="461665"/>
              </a:xfrm>
              <a:prstGeom prst="rect">
                <a:avLst/>
              </a:prstGeom>
              <a:blipFill>
                <a:blip r:embed="rId10"/>
                <a:stretch>
                  <a:fillRect/>
                </a:stretch>
              </a:blipFill>
            </p:spPr>
            <p:txBody>
              <a:bodyPr/>
              <a:lstStyle/>
              <a:p>
                <a:r>
                  <a:rPr lang="en-GB">
                    <a:noFill/>
                  </a:rPr>
                  <a:t> </a:t>
                </a:r>
              </a:p>
            </p:txBody>
          </p:sp>
        </mc:Fallback>
      </mc:AlternateContent>
      <p:cxnSp>
        <p:nvCxnSpPr>
          <p:cNvPr id="22" name="Straight Connector 21">
            <a:extLst>
              <a:ext uri="{FF2B5EF4-FFF2-40B4-BE49-F238E27FC236}">
                <a16:creationId xmlns:a16="http://schemas.microsoft.com/office/drawing/2014/main" id="{D5BF8147-3962-01C1-A1C5-1AEF0A66EFBB}"/>
              </a:ext>
            </a:extLst>
          </p:cNvPr>
          <p:cNvCxnSpPr>
            <a:cxnSpLocks/>
          </p:cNvCxnSpPr>
          <p:nvPr/>
        </p:nvCxnSpPr>
        <p:spPr>
          <a:xfrm>
            <a:off x="9277342" y="2617781"/>
            <a:ext cx="43861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09B6B4-D8AB-81FF-0FC0-27D2D459E371}"/>
              </a:ext>
            </a:extLst>
          </p:cNvPr>
          <p:cNvCxnSpPr>
            <a:cxnSpLocks/>
          </p:cNvCxnSpPr>
          <p:nvPr/>
        </p:nvCxnSpPr>
        <p:spPr>
          <a:xfrm>
            <a:off x="9715956" y="2617781"/>
            <a:ext cx="776406" cy="457172"/>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BEFC497-EB66-0B83-C59E-BD6B29B8373D}"/>
              </a:ext>
            </a:extLst>
          </p:cNvPr>
          <p:cNvCxnSpPr>
            <a:cxnSpLocks/>
          </p:cNvCxnSpPr>
          <p:nvPr/>
        </p:nvCxnSpPr>
        <p:spPr>
          <a:xfrm>
            <a:off x="10470523" y="3074953"/>
            <a:ext cx="154537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C2CCFC5-8989-C2AF-A889-364203FE246F}"/>
                  </a:ext>
                </a:extLst>
              </p:cNvPr>
              <p:cNvSpPr txBox="1"/>
              <p:nvPr/>
            </p:nvSpPr>
            <p:spPr>
              <a:xfrm>
                <a:off x="10304194" y="2622212"/>
                <a:ext cx="1970512" cy="461665"/>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rPr>
                        <m:t>2</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𝑡</m:t>
                      </m:r>
                      <m:r>
                        <a:rPr lang="en-GB" sz="2400" b="0" i="1" smtClean="0">
                          <a:latin typeface="Cambria Math" panose="02040503050406030204" pitchFamily="18" charset="0"/>
                          <a:ea typeface="Cambria Math" panose="02040503050406030204" pitchFamily="18" charset="0"/>
                        </a:rPr>
                        <m:t>&lt;3</m:t>
                      </m:r>
                    </m:oMath>
                  </m:oMathPara>
                </a14:m>
                <a:endParaRPr lang="en-GB" sz="2400" dirty="0"/>
              </a:p>
            </p:txBody>
          </p:sp>
        </mc:Choice>
        <mc:Fallback xmlns="">
          <p:sp>
            <p:nvSpPr>
              <p:cNvPr id="25" name="TextBox 24">
                <a:extLst>
                  <a:ext uri="{FF2B5EF4-FFF2-40B4-BE49-F238E27FC236}">
                    <a16:creationId xmlns:a16="http://schemas.microsoft.com/office/drawing/2014/main" id="{EC2CCFC5-8989-C2AF-A889-364203FE246F}"/>
                  </a:ext>
                </a:extLst>
              </p:cNvPr>
              <p:cNvSpPr txBox="1">
                <a:spLocks noRot="1" noChangeAspect="1" noMove="1" noResize="1" noEditPoints="1" noAdjustHandles="1" noChangeArrowheads="1" noChangeShapeType="1" noTextEdit="1"/>
              </p:cNvSpPr>
              <p:nvPr/>
            </p:nvSpPr>
            <p:spPr>
              <a:xfrm>
                <a:off x="10304194" y="2622212"/>
                <a:ext cx="1970512" cy="461665"/>
              </a:xfrm>
              <a:prstGeom prst="rect">
                <a:avLst/>
              </a:prstGeom>
              <a:blipFill>
                <a:blip r:embed="rId11"/>
                <a:stretch>
                  <a:fillRect/>
                </a:stretch>
              </a:blipFill>
            </p:spPr>
            <p:txBody>
              <a:bodyPr/>
              <a:lstStyle/>
              <a:p>
                <a:r>
                  <a:rPr lang="en-GB">
                    <a:noFill/>
                  </a:rPr>
                  <a:t> </a:t>
                </a:r>
              </a:p>
            </p:txBody>
          </p:sp>
        </mc:Fallback>
      </mc:AlternateContent>
      <p:cxnSp>
        <p:nvCxnSpPr>
          <p:cNvPr id="27" name="Straight Connector 26">
            <a:extLst>
              <a:ext uri="{FF2B5EF4-FFF2-40B4-BE49-F238E27FC236}">
                <a16:creationId xmlns:a16="http://schemas.microsoft.com/office/drawing/2014/main" id="{FC142BEC-28A6-1E86-ADFC-613C588595EF}"/>
              </a:ext>
            </a:extLst>
          </p:cNvPr>
          <p:cNvCxnSpPr>
            <a:cxnSpLocks/>
          </p:cNvCxnSpPr>
          <p:nvPr/>
        </p:nvCxnSpPr>
        <p:spPr>
          <a:xfrm flipV="1">
            <a:off x="6930015" y="2622212"/>
            <a:ext cx="564529" cy="704718"/>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C303193-3F5B-C464-FA7A-392A3EDD7C21}"/>
              </a:ext>
            </a:extLst>
          </p:cNvPr>
          <p:cNvCxnSpPr>
            <a:cxnSpLocks/>
          </p:cNvCxnSpPr>
          <p:nvPr/>
        </p:nvCxnSpPr>
        <p:spPr>
          <a:xfrm>
            <a:off x="7506626" y="2617781"/>
            <a:ext cx="788019"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24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animEffect transition="in" filter="fade">
                                      <p:cBhvr>
                                        <p:cTn id="55" dur="500"/>
                                        <p:tgtEl>
                                          <p:spTgt spid="3">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500"/>
                                        <p:tgtEl>
                                          <p:spTgt spid="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500"/>
                                        <p:tgtEl>
                                          <p:spTgt spid="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17" grpId="0"/>
      <p:bldP spid="21"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a function&#10;&#10;Description automatically generated with low confidence">
            <a:extLst>
              <a:ext uri="{FF2B5EF4-FFF2-40B4-BE49-F238E27FC236}">
                <a16:creationId xmlns:a16="http://schemas.microsoft.com/office/drawing/2014/main" id="{818092AB-D5AD-ACDE-6A13-98A2581409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63998" y="477744"/>
            <a:ext cx="6060472" cy="5699217"/>
          </a:xfrm>
        </p:spPr>
      </p:pic>
      <p:pic>
        <p:nvPicPr>
          <p:cNvPr id="11" name="Picture 10" descr="A picture containing text, line, plot, diagram&#10;&#10;Description automatically generated">
            <a:extLst>
              <a:ext uri="{FF2B5EF4-FFF2-40B4-BE49-F238E27FC236}">
                <a16:creationId xmlns:a16="http://schemas.microsoft.com/office/drawing/2014/main" id="{88972B5E-AA75-D563-52BA-ADC235335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3998" y="477746"/>
            <a:ext cx="6060472" cy="5699216"/>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3FCA4B-78E3-2BB3-25E9-DD5CC42E6F6E}"/>
                  </a:ext>
                </a:extLst>
              </p:cNvPr>
              <p:cNvSpPr txBox="1"/>
              <p:nvPr/>
            </p:nvSpPr>
            <p:spPr>
              <a:xfrm>
                <a:off x="7036419" y="749257"/>
                <a:ext cx="92265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m:oMathPara>
                </a14:m>
                <a:endParaRPr lang="en-GB" dirty="0"/>
              </a:p>
            </p:txBody>
          </p:sp>
        </mc:Choice>
        <mc:Fallback xmlns="">
          <p:sp>
            <p:nvSpPr>
              <p:cNvPr id="13" name="TextBox 12">
                <a:extLst>
                  <a:ext uri="{FF2B5EF4-FFF2-40B4-BE49-F238E27FC236}">
                    <a16:creationId xmlns:a16="http://schemas.microsoft.com/office/drawing/2014/main" id="{363FCA4B-78E3-2BB3-25E9-DD5CC42E6F6E}"/>
                  </a:ext>
                </a:extLst>
              </p:cNvPr>
              <p:cNvSpPr txBox="1">
                <a:spLocks noRot="1" noChangeAspect="1" noMove="1" noResize="1" noEditPoints="1" noAdjustHandles="1" noChangeArrowheads="1" noChangeShapeType="1" noTextEdit="1"/>
              </p:cNvSpPr>
              <p:nvPr/>
            </p:nvSpPr>
            <p:spPr>
              <a:xfrm>
                <a:off x="7036419" y="749257"/>
                <a:ext cx="922657" cy="381515"/>
              </a:xfrm>
              <a:prstGeom prst="rect">
                <a:avLst/>
              </a:prstGeom>
              <a:blipFill>
                <a:blip r:embed="rId4"/>
                <a:stretch>
                  <a:fillRect b="-112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E9820B8-E38E-8FD0-BD8F-B447440A9A84}"/>
                  </a:ext>
                </a:extLst>
              </p:cNvPr>
              <p:cNvSpPr txBox="1"/>
              <p:nvPr/>
            </p:nvSpPr>
            <p:spPr>
              <a:xfrm>
                <a:off x="8147824" y="749258"/>
                <a:ext cx="92265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m:oMathPara>
                </a14:m>
                <a:endParaRPr lang="en-GB" dirty="0"/>
              </a:p>
            </p:txBody>
          </p:sp>
        </mc:Choice>
        <mc:Fallback xmlns="">
          <p:sp>
            <p:nvSpPr>
              <p:cNvPr id="14" name="TextBox 13">
                <a:extLst>
                  <a:ext uri="{FF2B5EF4-FFF2-40B4-BE49-F238E27FC236}">
                    <a16:creationId xmlns:a16="http://schemas.microsoft.com/office/drawing/2014/main" id="{1E9820B8-E38E-8FD0-BD8F-B447440A9A84}"/>
                  </a:ext>
                </a:extLst>
              </p:cNvPr>
              <p:cNvSpPr txBox="1">
                <a:spLocks noRot="1" noChangeAspect="1" noMove="1" noResize="1" noEditPoints="1" noAdjustHandles="1" noChangeArrowheads="1" noChangeShapeType="1" noTextEdit="1"/>
              </p:cNvSpPr>
              <p:nvPr/>
            </p:nvSpPr>
            <p:spPr>
              <a:xfrm>
                <a:off x="8147824" y="749258"/>
                <a:ext cx="922657" cy="381515"/>
              </a:xfrm>
              <a:prstGeom prst="rect">
                <a:avLst/>
              </a:prstGeom>
              <a:blipFill>
                <a:blip r:embed="rId5"/>
                <a:stretch>
                  <a:fillRect b="-112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D53B752-8307-E831-EEF5-E7BCF6B1CB26}"/>
                  </a:ext>
                </a:extLst>
              </p:cNvPr>
              <p:cNvSpPr txBox="1"/>
              <p:nvPr/>
            </p:nvSpPr>
            <p:spPr>
              <a:xfrm>
                <a:off x="9259229" y="749256"/>
                <a:ext cx="92265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2,2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m:oMathPara>
                </a14:m>
                <a:endParaRPr lang="en-GB" dirty="0"/>
              </a:p>
            </p:txBody>
          </p:sp>
        </mc:Choice>
        <mc:Fallback xmlns="">
          <p:sp>
            <p:nvSpPr>
              <p:cNvPr id="15" name="TextBox 14">
                <a:extLst>
                  <a:ext uri="{FF2B5EF4-FFF2-40B4-BE49-F238E27FC236}">
                    <a16:creationId xmlns:a16="http://schemas.microsoft.com/office/drawing/2014/main" id="{6D53B752-8307-E831-EEF5-E7BCF6B1CB26}"/>
                  </a:ext>
                </a:extLst>
              </p:cNvPr>
              <p:cNvSpPr txBox="1">
                <a:spLocks noRot="1" noChangeAspect="1" noMove="1" noResize="1" noEditPoints="1" noAdjustHandles="1" noChangeArrowheads="1" noChangeShapeType="1" noTextEdit="1"/>
              </p:cNvSpPr>
              <p:nvPr/>
            </p:nvSpPr>
            <p:spPr>
              <a:xfrm>
                <a:off x="9259229" y="749256"/>
                <a:ext cx="922657" cy="381515"/>
              </a:xfrm>
              <a:prstGeom prst="rect">
                <a:avLst/>
              </a:prstGeom>
              <a:blipFill>
                <a:blip r:embed="rId6"/>
                <a:stretch>
                  <a:fillRect b="-11290"/>
                </a:stretch>
              </a:blipFill>
            </p:spPr>
            <p:txBody>
              <a:bodyPr/>
              <a:lstStyle/>
              <a:p>
                <a:r>
                  <a:rPr lang="en-GB">
                    <a:noFill/>
                  </a:rPr>
                  <a:t> </a:t>
                </a:r>
              </a:p>
            </p:txBody>
          </p:sp>
        </mc:Fallback>
      </mc:AlternateContent>
      <p:sp>
        <p:nvSpPr>
          <p:cNvPr id="16" name="Rectangle 15">
            <a:extLst>
              <a:ext uri="{FF2B5EF4-FFF2-40B4-BE49-F238E27FC236}">
                <a16:creationId xmlns:a16="http://schemas.microsoft.com/office/drawing/2014/main" id="{BAE915AD-7049-A335-560D-47E8EDD50A25}"/>
              </a:ext>
            </a:extLst>
          </p:cNvPr>
          <p:cNvSpPr/>
          <p:nvPr/>
        </p:nvSpPr>
        <p:spPr>
          <a:xfrm>
            <a:off x="8519531" y="749255"/>
            <a:ext cx="1037064" cy="4791615"/>
          </a:xfrm>
          <a:prstGeom prst="rect">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 name="Content Placeholder 2">
                <a:extLst>
                  <a:ext uri="{FF2B5EF4-FFF2-40B4-BE49-F238E27FC236}">
                    <a16:creationId xmlns:a16="http://schemas.microsoft.com/office/drawing/2014/main" id="{E2326C9E-4515-5AE5-C092-E4E7E86BCD89}"/>
                  </a:ext>
                </a:extLst>
              </p:cNvPr>
              <p:cNvSpPr txBox="1">
                <a:spLocks/>
              </p:cNvSpPr>
              <p:nvPr/>
            </p:nvSpPr>
            <p:spPr>
              <a:xfrm>
                <a:off x="102218" y="940013"/>
                <a:ext cx="5561779" cy="3152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spline is only defined where </a:t>
                </a:r>
                <a14:m>
                  <m:oMath xmlns:m="http://schemas.openxmlformats.org/officeDocument/2006/math">
                    <m:r>
                      <m:rPr>
                        <m:sty m:val="p"/>
                      </m:rPr>
                      <a:rPr lang="en-GB" b="0" i="0" smtClean="0">
                        <a:latin typeface="Cambria Math" panose="02040503050406030204" pitchFamily="18" charset="0"/>
                      </a:rPr>
                      <m:t>d</m:t>
                    </m:r>
                    <m:r>
                      <a:rPr lang="en-GB" b="0" i="1" smtClean="0">
                        <a:latin typeface="Cambria Math" panose="02040503050406030204" pitchFamily="18" charset="0"/>
                      </a:rPr>
                      <m:t>+1</m:t>
                    </m:r>
                    <m:r>
                      <a:rPr lang="en-GB" b="0" i="0" smtClean="0">
                        <a:latin typeface="Cambria Math" panose="02040503050406030204" pitchFamily="18" charset="0"/>
                      </a:rPr>
                      <m:t> </m:t>
                    </m:r>
                  </m:oMath>
                </a14:m>
                <a:r>
                  <a:rPr lang="en-GB" dirty="0"/>
                  <a:t>basis functions are non-zero</a:t>
                </a:r>
              </a:p>
              <a:p>
                <a:r>
                  <a:rPr lang="en-GB" dirty="0"/>
                  <a:t>This corresponds to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𝑑</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𝑡</m:t>
                        </m:r>
                      </m:e>
                      <m:sub>
                        <m:r>
                          <a:rPr lang="en-GB" b="0" i="1" smtClean="0">
                            <a:latin typeface="Cambria Math" panose="02040503050406030204" pitchFamily="18" charset="0"/>
                            <a:ea typeface="Cambria Math" panose="02040503050406030204" pitchFamily="18" charset="0"/>
                          </a:rPr>
                          <m:t>𝑚</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sub>
                    </m:sSub>
                  </m:oMath>
                </a14:m>
                <a:r>
                  <a:rPr lang="en-GB" dirty="0"/>
                  <a:t> </a:t>
                </a:r>
              </a:p>
            </p:txBody>
          </p:sp>
        </mc:Choice>
        <mc:Fallback>
          <p:sp>
            <p:nvSpPr>
              <p:cNvPr id="2" name="Content Placeholder 2">
                <a:extLst>
                  <a:ext uri="{FF2B5EF4-FFF2-40B4-BE49-F238E27FC236}">
                    <a16:creationId xmlns:a16="http://schemas.microsoft.com/office/drawing/2014/main" id="{E2326C9E-4515-5AE5-C092-E4E7E86BCD89}"/>
                  </a:ext>
                </a:extLst>
              </p:cNvPr>
              <p:cNvSpPr txBox="1">
                <a:spLocks noRot="1" noChangeAspect="1" noMove="1" noResize="1" noEditPoints="1" noAdjustHandles="1" noChangeArrowheads="1" noChangeShapeType="1" noTextEdit="1"/>
              </p:cNvSpPr>
              <p:nvPr/>
            </p:nvSpPr>
            <p:spPr>
              <a:xfrm>
                <a:off x="102218" y="940013"/>
                <a:ext cx="5561779" cy="3152485"/>
              </a:xfrm>
              <a:prstGeom prst="rect">
                <a:avLst/>
              </a:prstGeom>
              <a:blipFill>
                <a:blip r:embed="rId7"/>
                <a:stretch>
                  <a:fillRect l="-1974" t="-3095"/>
                </a:stretch>
              </a:blipFill>
            </p:spPr>
            <p:txBody>
              <a:bodyPr/>
              <a:lstStyle/>
              <a:p>
                <a:r>
                  <a:rPr lang="en-GB">
                    <a:noFill/>
                  </a:rPr>
                  <a:t> </a:t>
                </a:r>
              </a:p>
            </p:txBody>
          </p:sp>
        </mc:Fallback>
      </mc:AlternateContent>
    </p:spTree>
    <p:extLst>
      <p:ext uri="{BB962C8B-B14F-4D97-AF65-F5344CB8AC3E}">
        <p14:creationId xmlns:p14="http://schemas.microsoft.com/office/powerpoint/2010/main" val="1065184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xit" presetSubtype="0" fill="hold" grpId="1" nodeType="withEffect">
                                  <p:stCondLst>
                                    <p:cond delay="0"/>
                                  </p:stCondLst>
                                  <p:childTnLst>
                                    <p:animEffect transition="out" filter="fade">
                                      <p:cBhvr>
                                        <p:cTn id="20" dur="500"/>
                                        <p:tgtEl>
                                          <p:spTgt spid="15"/>
                                        </p:tgtEl>
                                      </p:cBhvr>
                                    </p:animEffect>
                                    <p:set>
                                      <p:cBhvr>
                                        <p:cTn id="21" dur="1" fill="hold">
                                          <p:stCondLst>
                                            <p:cond delay="499"/>
                                          </p:stCondLst>
                                        </p:cTn>
                                        <p:tgtEl>
                                          <p:spTgt spid="15"/>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4"/>
                                        </p:tgtEl>
                                      </p:cBhvr>
                                    </p:animEffect>
                                    <p:set>
                                      <p:cBhvr>
                                        <p:cTn id="24" dur="1" fill="hold">
                                          <p:stCondLst>
                                            <p:cond delay="499"/>
                                          </p:stCondLst>
                                        </p:cTn>
                                        <p:tgtEl>
                                          <p:spTgt spid="14"/>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5" grpId="0"/>
      <p:bldP spid="15" grpId="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DF3F06D-473E-8DE9-272A-85EFFF40E5EB}"/>
                  </a:ext>
                </a:extLst>
              </p:cNvPr>
              <p:cNvSpPr>
                <a:spLocks noGrp="1"/>
              </p:cNvSpPr>
              <p:nvPr>
                <p:ph type="title"/>
              </p:nvPr>
            </p:nvSpPr>
            <p:spPr>
              <a:xfrm>
                <a:off x="3892705" y="303591"/>
                <a:ext cx="4406590" cy="906114"/>
              </a:xfrm>
            </p:spPr>
            <p:txBody>
              <a:bodyPr/>
              <a:lstStyle/>
              <a:p>
                <a:pPr/>
                <a14:m>
                  <m:oMathPara xmlns:m="http://schemas.openxmlformats.org/officeDocument/2006/math">
                    <m:oMathParaPr>
                      <m:jc m:val="centerGroup"/>
                    </m:oMathParaPr>
                    <m:oMath xmlns:m="http://schemas.openxmlformats.org/officeDocument/2006/math">
                      <m:r>
                        <a:rPr lang="en-GB" sz="4000" b="1" i="0" smtClean="0">
                          <a:latin typeface="Cambria Math" panose="02040503050406030204" pitchFamily="18" charset="0"/>
                        </a:rPr>
                        <m:t>𝐏</m:t>
                      </m:r>
                      <m:r>
                        <a:rPr lang="en-GB" sz="4000" b="0" i="1" smtClean="0">
                          <a:latin typeface="Cambria Math" panose="02040503050406030204" pitchFamily="18" charset="0"/>
                        </a:rPr>
                        <m:t>= [1</m:t>
                      </m:r>
                      <m:r>
                        <a:rPr lang="en-GB" sz="4000" b="1" i="0" smtClean="0">
                          <a:latin typeface="Cambria Math" panose="02040503050406030204" pitchFamily="18" charset="0"/>
                        </a:rPr>
                        <m:t>,</m:t>
                      </m:r>
                      <m:r>
                        <a:rPr lang="en-GB" sz="4000" b="0" i="1" smtClean="0">
                          <a:latin typeface="Cambria Math" panose="02040503050406030204" pitchFamily="18" charset="0"/>
                        </a:rPr>
                        <m:t>4</m:t>
                      </m:r>
                      <m:r>
                        <a:rPr lang="en-GB" sz="4000" b="0" i="0" smtClean="0">
                          <a:latin typeface="Cambria Math" panose="02040503050406030204" pitchFamily="18" charset="0"/>
                        </a:rPr>
                        <m:t>,</m:t>
                      </m:r>
                      <m:r>
                        <a:rPr lang="en-GB" sz="4000" b="0" i="1" smtClean="0">
                          <a:latin typeface="Cambria Math" panose="02040503050406030204" pitchFamily="18" charset="0"/>
                        </a:rPr>
                        <m:t>2</m:t>
                      </m:r>
                      <m:r>
                        <a:rPr lang="en-GB" sz="4000" b="0" i="0" smtClean="0">
                          <a:latin typeface="Cambria Math" panose="02040503050406030204" pitchFamily="18" charset="0"/>
                        </a:rPr>
                        <m:t>]</m:t>
                      </m:r>
                    </m:oMath>
                  </m:oMathPara>
                </a14:m>
                <a:br>
                  <a:rPr lang="en-GB" b="1" dirty="0">
                    <a:latin typeface="Cambria Math" panose="02040503050406030204" pitchFamily="18" charset="0"/>
                  </a:rPr>
                </a:br>
                <a:endParaRPr lang="en-GB" dirty="0"/>
              </a:p>
            </p:txBody>
          </p:sp>
        </mc:Choice>
        <mc:Fallback xmlns="">
          <p:sp>
            <p:nvSpPr>
              <p:cNvPr id="2" name="Title 1">
                <a:extLst>
                  <a:ext uri="{FF2B5EF4-FFF2-40B4-BE49-F238E27FC236}">
                    <a16:creationId xmlns:a16="http://schemas.microsoft.com/office/drawing/2014/main" id="{EDF3F06D-473E-8DE9-272A-85EFFF40E5EB}"/>
                  </a:ext>
                </a:extLst>
              </p:cNvPr>
              <p:cNvSpPr>
                <a:spLocks noGrp="1" noRot="1" noChangeAspect="1" noMove="1" noResize="1" noEditPoints="1" noAdjustHandles="1" noChangeArrowheads="1" noChangeShapeType="1" noTextEdit="1"/>
              </p:cNvSpPr>
              <p:nvPr>
                <p:ph type="title"/>
              </p:nvPr>
            </p:nvSpPr>
            <p:spPr>
              <a:xfrm>
                <a:off x="3892705" y="303591"/>
                <a:ext cx="4406590" cy="906114"/>
              </a:xfrm>
              <a:blipFill>
                <a:blip r:embed="rId2"/>
                <a:stretch>
                  <a:fillRect/>
                </a:stretch>
              </a:blipFill>
            </p:spPr>
            <p:txBody>
              <a:bodyPr/>
              <a:lstStyle/>
              <a:p>
                <a:r>
                  <a:rPr lang="en-GB">
                    <a:noFill/>
                  </a:rPr>
                  <a:t> </a:t>
                </a:r>
              </a:p>
            </p:txBody>
          </p:sp>
        </mc:Fallback>
      </mc:AlternateContent>
      <p:pic>
        <p:nvPicPr>
          <p:cNvPr id="5" name="Picture 4" descr="A picture containing text, diagram, line, plot&#10;&#10;Description automatically generated">
            <a:extLst>
              <a:ext uri="{FF2B5EF4-FFF2-40B4-BE49-F238E27FC236}">
                <a16:creationId xmlns:a16="http://schemas.microsoft.com/office/drawing/2014/main" id="{8804AA26-B7E1-B661-423B-3205686380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8988" y="1462350"/>
            <a:ext cx="5330284" cy="5265523"/>
          </a:xfrm>
          <a:prstGeom prst="rect">
            <a:avLst/>
          </a:prstGeom>
        </p:spPr>
      </p:pic>
      <p:pic>
        <p:nvPicPr>
          <p:cNvPr id="6" name="Picture 5" descr="A picture containing text, line, plot, diagram&#10;&#10;Description automatically generated">
            <a:extLst>
              <a:ext uri="{FF2B5EF4-FFF2-40B4-BE49-F238E27FC236}">
                <a16:creationId xmlns:a16="http://schemas.microsoft.com/office/drawing/2014/main" id="{1247AE19-BE15-FDAA-D1BF-F202FB8E65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212" y="1526767"/>
            <a:ext cx="5530788" cy="520110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1E9166F-F4B0-00C7-0BB0-5F95A7B0926F}"/>
                  </a:ext>
                </a:extLst>
              </p:cNvPr>
              <p:cNvSpPr txBox="1"/>
              <p:nvPr/>
            </p:nvSpPr>
            <p:spPr>
              <a:xfrm>
                <a:off x="1823422" y="1798756"/>
                <a:ext cx="92265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0,2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m:oMathPara>
                </a14:m>
                <a:endParaRPr lang="en-GB" dirty="0"/>
              </a:p>
            </p:txBody>
          </p:sp>
        </mc:Choice>
        <mc:Fallback xmlns="">
          <p:sp>
            <p:nvSpPr>
              <p:cNvPr id="7" name="TextBox 6">
                <a:extLst>
                  <a:ext uri="{FF2B5EF4-FFF2-40B4-BE49-F238E27FC236}">
                    <a16:creationId xmlns:a16="http://schemas.microsoft.com/office/drawing/2014/main" id="{91E9166F-F4B0-00C7-0BB0-5F95A7B0926F}"/>
                  </a:ext>
                </a:extLst>
              </p:cNvPr>
              <p:cNvSpPr txBox="1">
                <a:spLocks noRot="1" noChangeAspect="1" noMove="1" noResize="1" noEditPoints="1" noAdjustHandles="1" noChangeArrowheads="1" noChangeShapeType="1" noTextEdit="1"/>
              </p:cNvSpPr>
              <p:nvPr/>
            </p:nvSpPr>
            <p:spPr>
              <a:xfrm>
                <a:off x="1823422" y="1798756"/>
                <a:ext cx="922657" cy="381515"/>
              </a:xfrm>
              <a:prstGeom prst="rect">
                <a:avLst/>
              </a:prstGeom>
              <a:blipFill>
                <a:blip r:embed="rId5"/>
                <a:stretch>
                  <a:fillRect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60D64A-0F7C-D269-D488-F5B1F9B3C07D}"/>
                  </a:ext>
                </a:extLst>
              </p:cNvPr>
              <p:cNvSpPr txBox="1"/>
              <p:nvPr/>
            </p:nvSpPr>
            <p:spPr>
              <a:xfrm>
                <a:off x="2806390" y="1798758"/>
                <a:ext cx="92265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1,2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m:oMathPara>
                </a14:m>
                <a:endParaRPr lang="en-GB" dirty="0"/>
              </a:p>
            </p:txBody>
          </p:sp>
        </mc:Choice>
        <mc:Fallback xmlns="">
          <p:sp>
            <p:nvSpPr>
              <p:cNvPr id="8" name="TextBox 7">
                <a:extLst>
                  <a:ext uri="{FF2B5EF4-FFF2-40B4-BE49-F238E27FC236}">
                    <a16:creationId xmlns:a16="http://schemas.microsoft.com/office/drawing/2014/main" id="{FB60D64A-0F7C-D269-D488-F5B1F9B3C07D}"/>
                  </a:ext>
                </a:extLst>
              </p:cNvPr>
              <p:cNvSpPr txBox="1">
                <a:spLocks noRot="1" noChangeAspect="1" noMove="1" noResize="1" noEditPoints="1" noAdjustHandles="1" noChangeArrowheads="1" noChangeShapeType="1" noTextEdit="1"/>
              </p:cNvSpPr>
              <p:nvPr/>
            </p:nvSpPr>
            <p:spPr>
              <a:xfrm>
                <a:off x="2806390" y="1798758"/>
                <a:ext cx="922657" cy="381515"/>
              </a:xfrm>
              <a:prstGeom prst="rect">
                <a:avLst/>
              </a:prstGeom>
              <a:blipFill>
                <a:blip r:embed="rId6"/>
                <a:stretch>
                  <a:fillRect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E5CC961-9CD7-C592-EEF3-87A6ED1616D7}"/>
                  </a:ext>
                </a:extLst>
              </p:cNvPr>
              <p:cNvSpPr txBox="1"/>
              <p:nvPr/>
            </p:nvSpPr>
            <p:spPr>
              <a:xfrm>
                <a:off x="3729047" y="1798756"/>
                <a:ext cx="92265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2,2</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m:oMathPara>
                </a14:m>
                <a:endParaRPr lang="en-GB" dirty="0"/>
              </a:p>
            </p:txBody>
          </p:sp>
        </mc:Choice>
        <mc:Fallback xmlns="">
          <p:sp>
            <p:nvSpPr>
              <p:cNvPr id="9" name="TextBox 8">
                <a:extLst>
                  <a:ext uri="{FF2B5EF4-FFF2-40B4-BE49-F238E27FC236}">
                    <a16:creationId xmlns:a16="http://schemas.microsoft.com/office/drawing/2014/main" id="{0E5CC961-9CD7-C592-EEF3-87A6ED1616D7}"/>
                  </a:ext>
                </a:extLst>
              </p:cNvPr>
              <p:cNvSpPr txBox="1">
                <a:spLocks noRot="1" noChangeAspect="1" noMove="1" noResize="1" noEditPoints="1" noAdjustHandles="1" noChangeArrowheads="1" noChangeShapeType="1" noTextEdit="1"/>
              </p:cNvSpPr>
              <p:nvPr/>
            </p:nvSpPr>
            <p:spPr>
              <a:xfrm>
                <a:off x="3729047" y="1798756"/>
                <a:ext cx="922657" cy="381515"/>
              </a:xfrm>
              <a:prstGeom prst="rect">
                <a:avLst/>
              </a:prstGeom>
              <a:blipFill>
                <a:blip r:embed="rId7"/>
                <a:stretch>
                  <a:fillRect b="-11111"/>
                </a:stretch>
              </a:blipFill>
            </p:spPr>
            <p:txBody>
              <a:bodyPr/>
              <a:lstStyle/>
              <a:p>
                <a:r>
                  <a:rPr lang="en-GB">
                    <a:noFill/>
                  </a:rPr>
                  <a:t> </a:t>
                </a:r>
              </a:p>
            </p:txBody>
          </p:sp>
        </mc:Fallback>
      </mc:AlternateContent>
      <p:cxnSp>
        <p:nvCxnSpPr>
          <p:cNvPr id="15" name="Straight Arrow Connector 14">
            <a:extLst>
              <a:ext uri="{FF2B5EF4-FFF2-40B4-BE49-F238E27FC236}">
                <a16:creationId xmlns:a16="http://schemas.microsoft.com/office/drawing/2014/main" id="{D27D5AF6-3ED2-7F4E-1442-2BF523C149C3}"/>
              </a:ext>
            </a:extLst>
          </p:cNvPr>
          <p:cNvCxnSpPr>
            <a:cxnSpLocks/>
          </p:cNvCxnSpPr>
          <p:nvPr/>
        </p:nvCxnSpPr>
        <p:spPr>
          <a:xfrm flipV="1">
            <a:off x="3124200" y="962025"/>
            <a:ext cx="3105150" cy="17145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3ED5416-BB11-C5D0-EEAC-B662524F1D41}"/>
              </a:ext>
            </a:extLst>
          </p:cNvPr>
          <p:cNvCxnSpPr>
            <a:cxnSpLocks/>
          </p:cNvCxnSpPr>
          <p:nvPr/>
        </p:nvCxnSpPr>
        <p:spPr>
          <a:xfrm flipV="1">
            <a:off x="4002035" y="962025"/>
            <a:ext cx="2617699" cy="1504950"/>
          </a:xfrm>
          <a:prstGeom prst="straightConnector1">
            <a:avLst/>
          </a:prstGeom>
          <a:ln w="38100">
            <a:solidFill>
              <a:srgbClr val="DC632E"/>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0985A49-5025-D53A-BF29-A61107BC9127}"/>
              </a:ext>
            </a:extLst>
          </p:cNvPr>
          <p:cNvCxnSpPr>
            <a:cxnSpLocks/>
          </p:cNvCxnSpPr>
          <p:nvPr/>
        </p:nvCxnSpPr>
        <p:spPr>
          <a:xfrm flipV="1">
            <a:off x="4987257" y="1010889"/>
            <a:ext cx="2010598" cy="1367240"/>
          </a:xfrm>
          <a:prstGeom prst="straightConnector1">
            <a:avLst/>
          </a:prstGeom>
          <a:ln w="38100">
            <a:solidFill>
              <a:srgbClr val="ECAE18"/>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2632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1CEB5-9557-FF8C-3114-0CE1AB2A5A85}"/>
              </a:ext>
            </a:extLst>
          </p:cNvPr>
          <p:cNvSpPr>
            <a:spLocks noGrp="1"/>
          </p:cNvSpPr>
          <p:nvPr>
            <p:ph type="title"/>
          </p:nvPr>
        </p:nvSpPr>
        <p:spPr/>
        <p:txBody>
          <a:bodyPr/>
          <a:lstStyle/>
          <a:p>
            <a:r>
              <a:rPr lang="en-GB" dirty="0"/>
              <a:t>Effect of control points</a:t>
            </a:r>
          </a:p>
        </p:txBody>
      </p:sp>
      <p:pic>
        <p:nvPicPr>
          <p:cNvPr id="4" name="B-spline">
            <a:hlinkClick r:id="" action="ppaction://media"/>
            <a:extLst>
              <a:ext uri="{FF2B5EF4-FFF2-40B4-BE49-F238E27FC236}">
                <a16:creationId xmlns:a16="http://schemas.microsoft.com/office/drawing/2014/main" id="{B84EA3D4-8305-2C3E-0403-5A65F75B8601}"/>
              </a:ext>
            </a:extLst>
          </p:cNvPr>
          <p:cNvPicPr>
            <a:picLocks noGrp="1" noChangeAspect="1"/>
          </p:cNvPicPr>
          <p:nvPr>
            <p:ph idx="1"/>
            <a:videoFile r:link="rId2"/>
            <p:extLst>
              <p:ext uri="{DAA4B4D4-6D71-4841-9C94-3DE7FCFB9230}">
                <p14:media xmlns:p14="http://schemas.microsoft.com/office/powerpoint/2010/main" r:embed="rId1"/>
              </p:ext>
            </p:extLst>
          </p:nvPr>
        </p:nvPicPr>
        <p:blipFill rotWithShape="1">
          <a:blip r:embed="rId4"/>
          <a:srcRect t="2149" b="2006"/>
          <a:stretch/>
        </p:blipFill>
        <p:spPr>
          <a:xfrm>
            <a:off x="1624089" y="1690688"/>
            <a:ext cx="8943821" cy="4536006"/>
          </a:xfrm>
        </p:spPr>
      </p:pic>
    </p:spTree>
    <p:extLst>
      <p:ext uri="{BB962C8B-B14F-4D97-AF65-F5344CB8AC3E}">
        <p14:creationId xmlns:p14="http://schemas.microsoft.com/office/powerpoint/2010/main" val="3772518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5C56-760A-6D6F-2F5F-A858743BDEF1}"/>
              </a:ext>
            </a:extLst>
          </p:cNvPr>
          <p:cNvSpPr>
            <a:spLocks noGrp="1"/>
          </p:cNvSpPr>
          <p:nvPr>
            <p:ph type="title"/>
          </p:nvPr>
        </p:nvSpPr>
        <p:spPr/>
        <p:txBody>
          <a:bodyPr/>
          <a:lstStyle/>
          <a:p>
            <a:r>
              <a:rPr lang="en-GB" dirty="0"/>
              <a:t>Effect of knot adjustment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1FDED93-C76F-0F59-971F-9C9AC015A676}"/>
                  </a:ext>
                </a:extLst>
              </p:cNvPr>
              <p:cNvSpPr>
                <a:spLocks noGrp="1"/>
              </p:cNvSpPr>
              <p:nvPr>
                <p:ph idx="1"/>
              </p:nvPr>
            </p:nvSpPr>
            <p:spPr/>
            <p:txBody>
              <a:bodyPr/>
              <a:lstStyle/>
              <a:p>
                <a:r>
                  <a:rPr lang="en-GB" dirty="0"/>
                  <a:t>The effect of control point </a:t>
                </a:r>
                <a14:m>
                  <m:oMath xmlns:m="http://schemas.openxmlformats.org/officeDocument/2006/math">
                    <m:sSub>
                      <m:sSubPr>
                        <m:ctrlPr>
                          <a:rPr lang="en-GB" b="0" i="1" smtClean="0">
                            <a:latin typeface="Cambria Math" panose="02040503050406030204" pitchFamily="18" charset="0"/>
                          </a:rPr>
                        </m:ctrlPr>
                      </m:sSubPr>
                      <m:e>
                        <m:r>
                          <a:rPr lang="en-GB" b="1" i="0" smtClean="0">
                            <a:latin typeface="Cambria Math" panose="02040503050406030204" pitchFamily="18" charset="0"/>
                          </a:rPr>
                          <m:t>𝐩</m:t>
                        </m:r>
                      </m:e>
                      <m:sub>
                        <m:r>
                          <a:rPr lang="en-GB" b="0" i="1" smtClean="0">
                            <a:latin typeface="Cambria Math" panose="02040503050406030204" pitchFamily="18" charset="0"/>
                          </a:rPr>
                          <m:t>𝑖</m:t>
                        </m:r>
                      </m:sub>
                    </m:sSub>
                  </m:oMath>
                </a14:m>
                <a:r>
                  <a:rPr lang="en-GB" dirty="0"/>
                  <a:t> on the curve is influenced by </a:t>
                </a:r>
                <a14:m>
                  <m:oMath xmlns:m="http://schemas.openxmlformats.org/officeDocument/2006/math">
                    <m:r>
                      <a:rPr lang="en-GB" b="0" i="1" smtClean="0">
                        <a:latin typeface="Cambria Math" panose="02040503050406030204" pitchFamily="18" charset="0"/>
                      </a:rPr>
                      <m:t>𝑑</m:t>
                    </m:r>
                  </m:oMath>
                </a14:m>
                <a:r>
                  <a:rPr lang="en-GB" dirty="0"/>
                  <a:t> consecutive knots, knots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𝑡</m:t>
                        </m:r>
                      </m:e>
                      <m:sub>
                        <m:r>
                          <a:rPr lang="en-GB" i="1" dirty="0" smtClean="0">
                            <a:latin typeface="Cambria Math" panose="02040503050406030204" pitchFamily="18" charset="0"/>
                          </a:rPr>
                          <m:t>𝑖</m:t>
                        </m:r>
                        <m:r>
                          <a:rPr lang="en-GB" b="0" i="1" dirty="0" smtClean="0">
                            <a:latin typeface="Cambria Math" panose="02040503050406030204" pitchFamily="18" charset="0"/>
                          </a:rPr>
                          <m:t>+1</m:t>
                        </m:r>
                      </m:sub>
                    </m:sSub>
                  </m:oMath>
                </a14:m>
                <a:r>
                  <a:rPr lang="en-GB" dirty="0"/>
                  <a:t> to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𝑡</m:t>
                        </m:r>
                      </m:e>
                      <m:sub>
                        <m:r>
                          <a:rPr lang="en-GB" i="1" dirty="0" err="1" smtClean="0">
                            <a:latin typeface="Cambria Math" panose="02040503050406030204" pitchFamily="18" charset="0"/>
                          </a:rPr>
                          <m:t>𝑖</m:t>
                        </m:r>
                        <m:r>
                          <a:rPr lang="en-GB" i="1" dirty="0" err="1" smtClean="0">
                            <a:latin typeface="Cambria Math" panose="02040503050406030204" pitchFamily="18" charset="0"/>
                          </a:rPr>
                          <m:t>+</m:t>
                        </m:r>
                        <m:r>
                          <a:rPr lang="en-GB" b="0" i="1" dirty="0" smtClean="0">
                            <a:latin typeface="Cambria Math" panose="02040503050406030204" pitchFamily="18" charset="0"/>
                          </a:rPr>
                          <m:t>𝑑</m:t>
                        </m:r>
                      </m:sub>
                    </m:sSub>
                  </m:oMath>
                </a14:m>
                <a:r>
                  <a:rPr lang="en-GB" dirty="0"/>
                  <a:t>.</a:t>
                </a:r>
              </a:p>
              <a:p>
                <a:r>
                  <a:rPr lang="en-GB" dirty="0"/>
                  <a:t>Reducing the knot spacing in the interval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𝑡</m:t>
                        </m:r>
                      </m:e>
                      <m:sub>
                        <m:r>
                          <a:rPr lang="en-GB" i="1" dirty="0" smtClean="0">
                            <a:latin typeface="Cambria Math" panose="02040503050406030204" pitchFamily="18" charset="0"/>
                          </a:rPr>
                          <m:t>𝑖</m:t>
                        </m:r>
                        <m:r>
                          <a:rPr lang="en-GB" b="0" i="1" dirty="0" smtClean="0">
                            <a:latin typeface="Cambria Math" panose="02040503050406030204" pitchFamily="18" charset="0"/>
                          </a:rPr>
                          <m:t>+1</m:t>
                        </m:r>
                      </m:sub>
                    </m:sSub>
                  </m:oMath>
                </a14:m>
                <a:r>
                  <a:rPr lang="en-GB" dirty="0"/>
                  <a:t> to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𝑡</m:t>
                        </m:r>
                      </m:e>
                      <m:sub>
                        <m:r>
                          <a:rPr lang="en-GB" i="1" dirty="0" err="1" smtClean="0">
                            <a:latin typeface="Cambria Math" panose="02040503050406030204" pitchFamily="18" charset="0"/>
                          </a:rPr>
                          <m:t>𝑖</m:t>
                        </m:r>
                        <m:r>
                          <a:rPr lang="en-GB" i="1" dirty="0" err="1" smtClean="0">
                            <a:latin typeface="Cambria Math" panose="02040503050406030204" pitchFamily="18" charset="0"/>
                          </a:rPr>
                          <m:t>+</m:t>
                        </m:r>
                        <m:r>
                          <a:rPr lang="en-GB" b="0" i="1" dirty="0" smtClean="0">
                            <a:latin typeface="Cambria Math" panose="02040503050406030204" pitchFamily="18" charset="0"/>
                          </a:rPr>
                          <m:t>𝑑</m:t>
                        </m:r>
                      </m:sub>
                    </m:sSub>
                  </m:oMath>
                </a14:m>
                <a:r>
                  <a:rPr lang="en-GB" dirty="0"/>
                  <a:t> will pull the spline towards control point </a:t>
                </a:r>
                <a14:m>
                  <m:oMath xmlns:m="http://schemas.openxmlformats.org/officeDocument/2006/math">
                    <m:sSub>
                      <m:sSubPr>
                        <m:ctrlPr>
                          <a:rPr lang="en-GB" i="1">
                            <a:latin typeface="Cambria Math" panose="02040503050406030204" pitchFamily="18" charset="0"/>
                          </a:rPr>
                        </m:ctrlPr>
                      </m:sSubPr>
                      <m:e>
                        <m:r>
                          <a:rPr lang="en-GB" b="1">
                            <a:latin typeface="Cambria Math" panose="02040503050406030204" pitchFamily="18" charset="0"/>
                          </a:rPr>
                          <m:t>𝐩</m:t>
                        </m:r>
                      </m:e>
                      <m:sub>
                        <m:r>
                          <a:rPr lang="en-GB" i="1">
                            <a:latin typeface="Cambria Math" panose="02040503050406030204" pitchFamily="18" charset="0"/>
                          </a:rPr>
                          <m:t>𝑖</m:t>
                        </m:r>
                      </m:sub>
                    </m:sSub>
                  </m:oMath>
                </a14:m>
                <a:r>
                  <a:rPr lang="en-GB" dirty="0"/>
                  <a:t>.</a:t>
                </a:r>
              </a:p>
              <a:p>
                <a:r>
                  <a:rPr lang="en-GB" dirty="0"/>
                  <a:t>Stacking </a:t>
                </a:r>
                <a14:m>
                  <m:oMath xmlns:m="http://schemas.openxmlformats.org/officeDocument/2006/math">
                    <m:r>
                      <a:rPr lang="en-GB" b="0" i="1" smtClean="0">
                        <a:latin typeface="Cambria Math" panose="02040503050406030204" pitchFamily="18" charset="0"/>
                      </a:rPr>
                      <m:t>𝑑</m:t>
                    </m:r>
                  </m:oMath>
                </a14:m>
                <a:r>
                  <a:rPr lang="en-GB" dirty="0"/>
                  <a:t> knots will make the spline pass though that control point.</a:t>
                </a:r>
              </a:p>
              <a:p>
                <a:pPr marL="0" indent="0">
                  <a:buNone/>
                </a:pPr>
                <a:endParaRPr lang="en-GB" dirty="0"/>
              </a:p>
            </p:txBody>
          </p:sp>
        </mc:Choice>
        <mc:Fallback>
          <p:sp>
            <p:nvSpPr>
              <p:cNvPr id="3" name="Content Placeholder 2">
                <a:extLst>
                  <a:ext uri="{FF2B5EF4-FFF2-40B4-BE49-F238E27FC236}">
                    <a16:creationId xmlns:a16="http://schemas.microsoft.com/office/drawing/2014/main" id="{61FDED93-C76F-0F59-971F-9C9AC015A67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1311304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5C56-760A-6D6F-2F5F-A858743BDEF1}"/>
              </a:ext>
            </a:extLst>
          </p:cNvPr>
          <p:cNvSpPr>
            <a:spLocks noGrp="1"/>
          </p:cNvSpPr>
          <p:nvPr>
            <p:ph type="title"/>
          </p:nvPr>
        </p:nvSpPr>
        <p:spPr/>
        <p:txBody>
          <a:bodyPr/>
          <a:lstStyle/>
          <a:p>
            <a:r>
              <a:rPr lang="en-GB" dirty="0"/>
              <a:t>Effect of knot adjustment</a:t>
            </a: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58ED13BC-B3A0-79A6-B57F-F02166723100}"/>
                  </a:ext>
                </a:extLst>
              </p:cNvPr>
              <p:cNvSpPr txBox="1">
                <a:spLocks/>
              </p:cNvSpPr>
              <p:nvPr/>
            </p:nvSpPr>
            <p:spPr>
              <a:xfrm>
                <a:off x="5129562" y="6155395"/>
                <a:ext cx="2687444" cy="67495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0</m:t>
                    </m:r>
                    <m:r>
                      <a:rPr lang="en-GB" sz="4000" b="0" smtClean="0">
                        <a:latin typeface="Cambria Math" panose="02040503050406030204" pitchFamily="18" charset="0"/>
                      </a:rPr>
                      <m:t>,</m:t>
                    </m:r>
                    <m:r>
                      <a:rPr lang="en-GB" sz="4000" b="0" i="1" smtClean="0">
                        <a:latin typeface="Cambria Math" panose="02040503050406030204" pitchFamily="18" charset="0"/>
                      </a:rPr>
                      <m:t>1</m:t>
                    </m:r>
                    <m:r>
                      <a:rPr lang="en-GB" sz="4000" b="0" smtClean="0">
                        <a:latin typeface="Cambria Math" panose="02040503050406030204" pitchFamily="18" charset="0"/>
                      </a:rPr>
                      <m:t>,</m:t>
                    </m:r>
                    <m:r>
                      <a:rPr lang="en-GB" sz="4000" b="0" i="1" smtClean="0">
                        <a:latin typeface="Cambria Math" panose="02040503050406030204" pitchFamily="18" charset="0"/>
                      </a:rPr>
                      <m:t>2,3,4,5,</m:t>
                    </m:r>
                    <m:r>
                      <a:rPr lang="en-GB" sz="4000" b="0" i="0" smtClean="0">
                        <a:latin typeface="Cambria Math" panose="02040503050406030204" pitchFamily="18" charset="0"/>
                      </a:rPr>
                      <m:t>6,7</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8" name="Title 1">
                <a:extLst>
                  <a:ext uri="{FF2B5EF4-FFF2-40B4-BE49-F238E27FC236}">
                    <a16:creationId xmlns:a16="http://schemas.microsoft.com/office/drawing/2014/main" id="{58ED13BC-B3A0-79A6-B57F-F02166723100}"/>
                  </a:ext>
                </a:extLst>
              </p:cNvPr>
              <p:cNvSpPr txBox="1">
                <a:spLocks noRot="1" noChangeAspect="1" noMove="1" noResize="1" noEditPoints="1" noAdjustHandles="1" noChangeArrowheads="1" noChangeShapeType="1" noTextEdit="1"/>
              </p:cNvSpPr>
              <p:nvPr/>
            </p:nvSpPr>
            <p:spPr>
              <a:xfrm>
                <a:off x="5129562" y="6155395"/>
                <a:ext cx="2687444" cy="674959"/>
              </a:xfrm>
              <a:prstGeom prst="rect">
                <a:avLst/>
              </a:prstGeom>
              <a:blipFill>
                <a:blip r:embed="rId2"/>
                <a:stretch>
                  <a:fillRect l="-2948" t="-13636"/>
                </a:stretch>
              </a:blipFill>
            </p:spPr>
            <p:txBody>
              <a:bodyPr/>
              <a:lstStyle/>
              <a:p>
                <a:r>
                  <a:rPr lang="en-GB">
                    <a:noFill/>
                  </a:rPr>
                  <a:t> </a:t>
                </a:r>
              </a:p>
            </p:txBody>
          </p:sp>
        </mc:Fallback>
      </mc:AlternateContent>
      <p:pic>
        <p:nvPicPr>
          <p:cNvPr id="5" name="Picture 4" descr="A picture containing diagram, text, plot, line&#10;&#10;Description automatically generated">
            <a:extLst>
              <a:ext uri="{FF2B5EF4-FFF2-40B4-BE49-F238E27FC236}">
                <a16:creationId xmlns:a16="http://schemas.microsoft.com/office/drawing/2014/main" id="{EA89C51B-BE77-EC19-C7C8-012D8F65D2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707" y="1507891"/>
            <a:ext cx="4740188" cy="4518684"/>
          </a:xfrm>
          <a:prstGeom prst="rect">
            <a:avLst/>
          </a:prstGeom>
        </p:spPr>
      </p:pic>
      <p:pic>
        <p:nvPicPr>
          <p:cNvPr id="7" name="Picture 6" descr="A picture containing diagram, line, plot&#10;&#10;Description automatically generated">
            <a:extLst>
              <a:ext uri="{FF2B5EF4-FFF2-40B4-BE49-F238E27FC236}">
                <a16:creationId xmlns:a16="http://schemas.microsoft.com/office/drawing/2014/main" id="{93F94923-473A-BAEA-2D75-FB813E7D0B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2106" y="1507891"/>
            <a:ext cx="4974537" cy="4518685"/>
          </a:xfrm>
          <a:prstGeom prst="rect">
            <a:avLst/>
          </a:prstGeom>
        </p:spPr>
      </p:pic>
    </p:spTree>
    <p:extLst>
      <p:ext uri="{BB962C8B-B14F-4D97-AF65-F5344CB8AC3E}">
        <p14:creationId xmlns:p14="http://schemas.microsoft.com/office/powerpoint/2010/main" val="3887044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5C56-760A-6D6F-2F5F-A858743BDEF1}"/>
              </a:ext>
            </a:extLst>
          </p:cNvPr>
          <p:cNvSpPr>
            <a:spLocks noGrp="1"/>
          </p:cNvSpPr>
          <p:nvPr>
            <p:ph type="title"/>
          </p:nvPr>
        </p:nvSpPr>
        <p:spPr/>
        <p:txBody>
          <a:bodyPr/>
          <a:lstStyle/>
          <a:p>
            <a:r>
              <a:rPr lang="en-GB" dirty="0"/>
              <a:t>Effect of knot adjustment</a:t>
            </a: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58ED13BC-B3A0-79A6-B57F-F02166723100}"/>
                  </a:ext>
                </a:extLst>
              </p:cNvPr>
              <p:cNvSpPr txBox="1">
                <a:spLocks/>
              </p:cNvSpPr>
              <p:nvPr/>
            </p:nvSpPr>
            <p:spPr>
              <a:xfrm>
                <a:off x="2263698" y="6155395"/>
                <a:ext cx="2687444" cy="67495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0</m:t>
                    </m:r>
                    <m:r>
                      <a:rPr lang="en-GB" sz="4000" b="0" smtClean="0">
                        <a:latin typeface="Cambria Math" panose="02040503050406030204" pitchFamily="18" charset="0"/>
                      </a:rPr>
                      <m:t>,</m:t>
                    </m:r>
                    <m:r>
                      <a:rPr lang="en-GB" sz="4000" b="0" i="1" smtClean="0">
                        <a:latin typeface="Cambria Math" panose="02040503050406030204" pitchFamily="18" charset="0"/>
                      </a:rPr>
                      <m:t>1</m:t>
                    </m:r>
                    <m:r>
                      <a:rPr lang="en-GB" sz="4000" b="0" smtClean="0">
                        <a:latin typeface="Cambria Math" panose="02040503050406030204" pitchFamily="18" charset="0"/>
                      </a:rPr>
                      <m:t>,</m:t>
                    </m:r>
                    <m:r>
                      <a:rPr lang="en-GB" sz="4000" b="0" i="1" smtClean="0">
                        <a:latin typeface="Cambria Math" panose="02040503050406030204" pitchFamily="18" charset="0"/>
                      </a:rPr>
                      <m:t>2,3,4,5,</m:t>
                    </m:r>
                    <m:r>
                      <a:rPr lang="en-GB" sz="4000" b="0" i="0" smtClean="0">
                        <a:latin typeface="Cambria Math" panose="02040503050406030204" pitchFamily="18" charset="0"/>
                      </a:rPr>
                      <m:t>6,7</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8" name="Title 1">
                <a:extLst>
                  <a:ext uri="{FF2B5EF4-FFF2-40B4-BE49-F238E27FC236}">
                    <a16:creationId xmlns:a16="http://schemas.microsoft.com/office/drawing/2014/main" id="{58ED13BC-B3A0-79A6-B57F-F02166723100}"/>
                  </a:ext>
                </a:extLst>
              </p:cNvPr>
              <p:cNvSpPr txBox="1">
                <a:spLocks noRot="1" noChangeAspect="1" noMove="1" noResize="1" noEditPoints="1" noAdjustHandles="1" noChangeArrowheads="1" noChangeShapeType="1" noTextEdit="1"/>
              </p:cNvSpPr>
              <p:nvPr/>
            </p:nvSpPr>
            <p:spPr>
              <a:xfrm>
                <a:off x="2263698" y="6155395"/>
                <a:ext cx="2687444" cy="674959"/>
              </a:xfrm>
              <a:prstGeom prst="rect">
                <a:avLst/>
              </a:prstGeom>
              <a:blipFill>
                <a:blip r:embed="rId2"/>
                <a:stretch>
                  <a:fillRect l="-2948" t="-13636"/>
                </a:stretch>
              </a:blipFill>
            </p:spPr>
            <p:txBody>
              <a:bodyPr/>
              <a:lstStyle/>
              <a:p>
                <a:r>
                  <a:rPr lang="en-GB">
                    <a:noFill/>
                  </a:rPr>
                  <a:t> </a:t>
                </a:r>
              </a:p>
            </p:txBody>
          </p:sp>
        </mc:Fallback>
      </mc:AlternateContent>
      <p:pic>
        <p:nvPicPr>
          <p:cNvPr id="7" name="Picture 6" descr="A picture containing diagram, line, plot&#10;&#10;Description automatically generated">
            <a:extLst>
              <a:ext uri="{FF2B5EF4-FFF2-40B4-BE49-F238E27FC236}">
                <a16:creationId xmlns:a16="http://schemas.microsoft.com/office/drawing/2014/main" id="{93F94923-473A-BAEA-2D75-FB813E7D0B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507890"/>
            <a:ext cx="4974537" cy="4518685"/>
          </a:xfrm>
          <a:prstGeom prst="rect">
            <a:avLst/>
          </a:prstGeom>
        </p:spPr>
      </p:pic>
      <p:pic>
        <p:nvPicPr>
          <p:cNvPr id="10" name="Picture 9" descr="A picture containing diagram, line, plot&#10;&#10;Description automatically generated">
            <a:extLst>
              <a:ext uri="{FF2B5EF4-FFF2-40B4-BE49-F238E27FC236}">
                <a16:creationId xmlns:a16="http://schemas.microsoft.com/office/drawing/2014/main" id="{C7314330-0480-35F2-E491-C9DFF12F47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9264" y="1507891"/>
            <a:ext cx="4974536" cy="4518684"/>
          </a:xfrm>
          <a:prstGeom prst="rect">
            <a:avLst/>
          </a:prstGeom>
        </p:spPr>
      </p:pic>
      <mc:AlternateContent xmlns:mc="http://schemas.openxmlformats.org/markup-compatibility/2006" xmlns:a14="http://schemas.microsoft.com/office/drawing/2010/main">
        <mc:Choice Requires="a14">
          <p:sp>
            <p:nvSpPr>
              <p:cNvPr id="11" name="Title 1">
                <a:extLst>
                  <a:ext uri="{FF2B5EF4-FFF2-40B4-BE49-F238E27FC236}">
                    <a16:creationId xmlns:a16="http://schemas.microsoft.com/office/drawing/2014/main" id="{C44631AD-6C9A-817C-006C-947A57207D8C}"/>
                  </a:ext>
                </a:extLst>
              </p:cNvPr>
              <p:cNvSpPr txBox="1">
                <a:spLocks/>
              </p:cNvSpPr>
              <p:nvPr/>
            </p:nvSpPr>
            <p:spPr>
              <a:xfrm>
                <a:off x="7779835" y="6155394"/>
                <a:ext cx="2687444" cy="67495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0</m:t>
                    </m:r>
                    <m:r>
                      <a:rPr lang="en-GB" sz="4000" b="0" smtClean="0">
                        <a:latin typeface="Cambria Math" panose="02040503050406030204" pitchFamily="18" charset="0"/>
                      </a:rPr>
                      <m:t>,</m:t>
                    </m:r>
                    <m:r>
                      <a:rPr lang="en-GB" sz="4000" b="0" i="1" smtClean="0">
                        <a:latin typeface="Cambria Math" panose="02040503050406030204" pitchFamily="18" charset="0"/>
                      </a:rPr>
                      <m:t>1</m:t>
                    </m:r>
                    <m:r>
                      <a:rPr lang="en-GB" sz="4000" b="0" smtClean="0">
                        <a:latin typeface="Cambria Math" panose="02040503050406030204" pitchFamily="18" charset="0"/>
                      </a:rPr>
                      <m:t>,</m:t>
                    </m:r>
                    <m:r>
                      <a:rPr lang="en-GB" sz="4000" b="0" i="1" smtClean="0">
                        <a:latin typeface="Cambria Math" panose="02040503050406030204" pitchFamily="18" charset="0"/>
                      </a:rPr>
                      <m:t>2,3,3.5,5,</m:t>
                    </m:r>
                    <m:r>
                      <a:rPr lang="en-GB" sz="4000" b="0" i="0" smtClean="0">
                        <a:latin typeface="Cambria Math" panose="02040503050406030204" pitchFamily="18" charset="0"/>
                      </a:rPr>
                      <m:t>6,7</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11" name="Title 1">
                <a:extLst>
                  <a:ext uri="{FF2B5EF4-FFF2-40B4-BE49-F238E27FC236}">
                    <a16:creationId xmlns:a16="http://schemas.microsoft.com/office/drawing/2014/main" id="{C44631AD-6C9A-817C-006C-947A57207D8C}"/>
                  </a:ext>
                </a:extLst>
              </p:cNvPr>
              <p:cNvSpPr txBox="1">
                <a:spLocks noRot="1" noChangeAspect="1" noMove="1" noResize="1" noEditPoints="1" noAdjustHandles="1" noChangeArrowheads="1" noChangeShapeType="1" noTextEdit="1"/>
              </p:cNvSpPr>
              <p:nvPr/>
            </p:nvSpPr>
            <p:spPr>
              <a:xfrm>
                <a:off x="7779835" y="6155394"/>
                <a:ext cx="2687444" cy="674959"/>
              </a:xfrm>
              <a:prstGeom prst="rect">
                <a:avLst/>
              </a:prstGeom>
              <a:blipFill>
                <a:blip r:embed="rId5"/>
                <a:stretch>
                  <a:fillRect l="-2041" t="-5455"/>
                </a:stretch>
              </a:blipFill>
            </p:spPr>
            <p:txBody>
              <a:bodyPr/>
              <a:lstStyle/>
              <a:p>
                <a:r>
                  <a:rPr lang="en-GB">
                    <a:noFill/>
                  </a:rPr>
                  <a:t> </a:t>
                </a:r>
              </a:p>
            </p:txBody>
          </p:sp>
        </mc:Fallback>
      </mc:AlternateContent>
    </p:spTree>
    <p:extLst>
      <p:ext uri="{BB962C8B-B14F-4D97-AF65-F5344CB8AC3E}">
        <p14:creationId xmlns:p14="http://schemas.microsoft.com/office/powerpoint/2010/main" val="2836345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5C56-760A-6D6F-2F5F-A858743BDEF1}"/>
              </a:ext>
            </a:extLst>
          </p:cNvPr>
          <p:cNvSpPr>
            <a:spLocks noGrp="1"/>
          </p:cNvSpPr>
          <p:nvPr>
            <p:ph type="title"/>
          </p:nvPr>
        </p:nvSpPr>
        <p:spPr/>
        <p:txBody>
          <a:bodyPr/>
          <a:lstStyle/>
          <a:p>
            <a:r>
              <a:rPr lang="en-GB" dirty="0"/>
              <a:t>Effect of knot adjustment</a:t>
            </a: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58ED13BC-B3A0-79A6-B57F-F02166723100}"/>
                  </a:ext>
                </a:extLst>
              </p:cNvPr>
              <p:cNvSpPr txBox="1">
                <a:spLocks/>
              </p:cNvSpPr>
              <p:nvPr/>
            </p:nvSpPr>
            <p:spPr>
              <a:xfrm>
                <a:off x="1926079" y="6155395"/>
                <a:ext cx="2687444" cy="67495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0</m:t>
                    </m:r>
                    <m:r>
                      <a:rPr lang="en-GB" sz="4000" b="0" smtClean="0">
                        <a:latin typeface="Cambria Math" panose="02040503050406030204" pitchFamily="18" charset="0"/>
                      </a:rPr>
                      <m:t>,</m:t>
                    </m:r>
                    <m:r>
                      <a:rPr lang="en-GB" sz="4000" b="0" i="1" smtClean="0">
                        <a:latin typeface="Cambria Math" panose="02040503050406030204" pitchFamily="18" charset="0"/>
                      </a:rPr>
                      <m:t>1</m:t>
                    </m:r>
                    <m:r>
                      <a:rPr lang="en-GB" sz="4000" b="0" smtClean="0">
                        <a:latin typeface="Cambria Math" panose="02040503050406030204" pitchFamily="18" charset="0"/>
                      </a:rPr>
                      <m:t>,</m:t>
                    </m:r>
                    <m:r>
                      <a:rPr lang="en-GB" sz="4000" b="0" i="1" smtClean="0">
                        <a:latin typeface="Cambria Math" panose="02040503050406030204" pitchFamily="18" charset="0"/>
                      </a:rPr>
                      <m:t>2,3,4,5,</m:t>
                    </m:r>
                    <m:r>
                      <a:rPr lang="en-GB" sz="4000" b="0" i="0" smtClean="0">
                        <a:latin typeface="Cambria Math" panose="02040503050406030204" pitchFamily="18" charset="0"/>
                      </a:rPr>
                      <m:t>6,7</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8" name="Title 1">
                <a:extLst>
                  <a:ext uri="{FF2B5EF4-FFF2-40B4-BE49-F238E27FC236}">
                    <a16:creationId xmlns:a16="http://schemas.microsoft.com/office/drawing/2014/main" id="{58ED13BC-B3A0-79A6-B57F-F02166723100}"/>
                  </a:ext>
                </a:extLst>
              </p:cNvPr>
              <p:cNvSpPr txBox="1">
                <a:spLocks noRot="1" noChangeAspect="1" noMove="1" noResize="1" noEditPoints="1" noAdjustHandles="1" noChangeArrowheads="1" noChangeShapeType="1" noTextEdit="1"/>
              </p:cNvSpPr>
              <p:nvPr/>
            </p:nvSpPr>
            <p:spPr>
              <a:xfrm>
                <a:off x="1926079" y="6155395"/>
                <a:ext cx="2687444" cy="674959"/>
              </a:xfrm>
              <a:prstGeom prst="rect">
                <a:avLst/>
              </a:prstGeom>
              <a:blipFill>
                <a:blip r:embed="rId2"/>
                <a:stretch>
                  <a:fillRect l="-2948" t="-13636"/>
                </a:stretch>
              </a:blipFill>
            </p:spPr>
            <p:txBody>
              <a:bodyPr/>
              <a:lstStyle/>
              <a:p>
                <a:r>
                  <a:rPr lang="en-GB">
                    <a:noFill/>
                  </a:rPr>
                  <a:t> </a:t>
                </a:r>
              </a:p>
            </p:txBody>
          </p:sp>
        </mc:Fallback>
      </mc:AlternateContent>
      <p:pic>
        <p:nvPicPr>
          <p:cNvPr id="5" name="Picture 4" descr="A picture containing diagram, text, plot, line&#10;&#10;Description automatically generated">
            <a:extLst>
              <a:ext uri="{FF2B5EF4-FFF2-40B4-BE49-F238E27FC236}">
                <a16:creationId xmlns:a16="http://schemas.microsoft.com/office/drawing/2014/main" id="{EA89C51B-BE77-EC19-C7C8-012D8F65D2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707" y="1507891"/>
            <a:ext cx="4740188" cy="4518684"/>
          </a:xfrm>
          <a:prstGeom prst="rect">
            <a:avLst/>
          </a:prstGeom>
        </p:spPr>
      </p:pic>
      <p:pic>
        <p:nvPicPr>
          <p:cNvPr id="7" name="Picture 6">
            <a:extLst>
              <a:ext uri="{FF2B5EF4-FFF2-40B4-BE49-F238E27FC236}">
                <a16:creationId xmlns:a16="http://schemas.microsoft.com/office/drawing/2014/main" id="{93F94923-473A-BAEA-2D75-FB813E7D0BAB}"/>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6552107" y="1507890"/>
            <a:ext cx="4740189" cy="4518685"/>
          </a:xfrm>
          <a:prstGeom prst="rect">
            <a:avLst/>
          </a:prstGeom>
        </p:spPr>
      </p:pic>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35AFA9DD-CC8E-89E1-816D-8961D88A3914}"/>
                  </a:ext>
                </a:extLst>
              </p:cNvPr>
              <p:cNvSpPr txBox="1">
                <a:spLocks/>
              </p:cNvSpPr>
              <p:nvPr/>
            </p:nvSpPr>
            <p:spPr>
              <a:xfrm>
                <a:off x="7695652" y="6155395"/>
                <a:ext cx="2687444" cy="67495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0</m:t>
                    </m:r>
                    <m:r>
                      <a:rPr lang="en-GB" sz="4000" b="0" smtClean="0">
                        <a:latin typeface="Cambria Math" panose="02040503050406030204" pitchFamily="18" charset="0"/>
                      </a:rPr>
                      <m:t>,</m:t>
                    </m:r>
                    <m:r>
                      <a:rPr lang="en-GB" sz="4000" b="0" i="1" smtClean="0">
                        <a:latin typeface="Cambria Math" panose="02040503050406030204" pitchFamily="18" charset="0"/>
                      </a:rPr>
                      <m:t>1</m:t>
                    </m:r>
                    <m:r>
                      <a:rPr lang="en-GB" sz="4000" b="0" smtClean="0">
                        <a:latin typeface="Cambria Math" panose="02040503050406030204" pitchFamily="18" charset="0"/>
                      </a:rPr>
                      <m:t>,</m:t>
                    </m:r>
                    <m:r>
                      <a:rPr lang="en-GB" sz="4000" b="0" i="1" smtClean="0">
                        <a:latin typeface="Cambria Math" panose="02040503050406030204" pitchFamily="18" charset="0"/>
                      </a:rPr>
                      <m:t>2,3,3.5,5,</m:t>
                    </m:r>
                    <m:r>
                      <a:rPr lang="en-GB" sz="4000" b="0" i="0" smtClean="0">
                        <a:latin typeface="Cambria Math" panose="02040503050406030204" pitchFamily="18" charset="0"/>
                      </a:rPr>
                      <m:t>6,7</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9" name="Title 1">
                <a:extLst>
                  <a:ext uri="{FF2B5EF4-FFF2-40B4-BE49-F238E27FC236}">
                    <a16:creationId xmlns:a16="http://schemas.microsoft.com/office/drawing/2014/main" id="{35AFA9DD-CC8E-89E1-816D-8961D88A3914}"/>
                  </a:ext>
                </a:extLst>
              </p:cNvPr>
              <p:cNvSpPr txBox="1">
                <a:spLocks noRot="1" noChangeAspect="1" noMove="1" noResize="1" noEditPoints="1" noAdjustHandles="1" noChangeArrowheads="1" noChangeShapeType="1" noTextEdit="1"/>
              </p:cNvSpPr>
              <p:nvPr/>
            </p:nvSpPr>
            <p:spPr>
              <a:xfrm>
                <a:off x="7695652" y="6155395"/>
                <a:ext cx="2687444" cy="674959"/>
              </a:xfrm>
              <a:prstGeom prst="rect">
                <a:avLst/>
              </a:prstGeom>
              <a:blipFill>
                <a:blip r:embed="rId5"/>
                <a:stretch>
                  <a:fillRect l="-2041" t="-5455"/>
                </a:stretch>
              </a:blipFill>
            </p:spPr>
            <p:txBody>
              <a:bodyPr/>
              <a:lstStyle/>
              <a:p>
                <a:r>
                  <a:rPr lang="en-GB">
                    <a:noFill/>
                  </a:rPr>
                  <a:t> </a:t>
                </a:r>
              </a:p>
            </p:txBody>
          </p:sp>
        </mc:Fallback>
      </mc:AlternateContent>
    </p:spTree>
    <p:extLst>
      <p:ext uri="{BB962C8B-B14F-4D97-AF65-F5344CB8AC3E}">
        <p14:creationId xmlns:p14="http://schemas.microsoft.com/office/powerpoint/2010/main" val="4141760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5C56-760A-6D6F-2F5F-A858743BDEF1}"/>
              </a:ext>
            </a:extLst>
          </p:cNvPr>
          <p:cNvSpPr>
            <a:spLocks noGrp="1"/>
          </p:cNvSpPr>
          <p:nvPr>
            <p:ph type="title"/>
          </p:nvPr>
        </p:nvSpPr>
        <p:spPr/>
        <p:txBody>
          <a:bodyPr/>
          <a:lstStyle/>
          <a:p>
            <a:r>
              <a:rPr lang="en-GB" dirty="0"/>
              <a:t>Effect of knot adjustment</a:t>
            </a: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58ED13BC-B3A0-79A6-B57F-F02166723100}"/>
                  </a:ext>
                </a:extLst>
              </p:cNvPr>
              <p:cNvSpPr txBox="1">
                <a:spLocks/>
              </p:cNvSpPr>
              <p:nvPr/>
            </p:nvSpPr>
            <p:spPr>
              <a:xfrm>
                <a:off x="5008208" y="6194114"/>
                <a:ext cx="2687444" cy="67495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0</m:t>
                    </m:r>
                    <m:r>
                      <a:rPr lang="en-GB" sz="4000" b="0" smtClean="0">
                        <a:latin typeface="Cambria Math" panose="02040503050406030204" pitchFamily="18" charset="0"/>
                      </a:rPr>
                      <m:t>,</m:t>
                    </m:r>
                    <m:r>
                      <a:rPr lang="en-GB" sz="4000" b="0" i="1" smtClean="0">
                        <a:latin typeface="Cambria Math" panose="02040503050406030204" pitchFamily="18" charset="0"/>
                      </a:rPr>
                      <m:t>1</m:t>
                    </m:r>
                    <m:r>
                      <a:rPr lang="en-GB" sz="4000" b="0" smtClean="0">
                        <a:latin typeface="Cambria Math" panose="02040503050406030204" pitchFamily="18" charset="0"/>
                      </a:rPr>
                      <m:t>,</m:t>
                    </m:r>
                    <m:r>
                      <a:rPr lang="en-GB" sz="4000" b="0" i="1" smtClean="0">
                        <a:latin typeface="Cambria Math" panose="02040503050406030204" pitchFamily="18" charset="0"/>
                      </a:rPr>
                      <m:t>2,3,3,5,</m:t>
                    </m:r>
                    <m:r>
                      <a:rPr lang="en-GB" sz="4000" b="0" i="0" smtClean="0">
                        <a:latin typeface="Cambria Math" panose="02040503050406030204" pitchFamily="18" charset="0"/>
                      </a:rPr>
                      <m:t>6,7</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8" name="Title 1">
                <a:extLst>
                  <a:ext uri="{FF2B5EF4-FFF2-40B4-BE49-F238E27FC236}">
                    <a16:creationId xmlns:a16="http://schemas.microsoft.com/office/drawing/2014/main" id="{58ED13BC-B3A0-79A6-B57F-F02166723100}"/>
                  </a:ext>
                </a:extLst>
              </p:cNvPr>
              <p:cNvSpPr txBox="1">
                <a:spLocks noRot="1" noChangeAspect="1" noMove="1" noResize="1" noEditPoints="1" noAdjustHandles="1" noChangeArrowheads="1" noChangeShapeType="1" noTextEdit="1"/>
              </p:cNvSpPr>
              <p:nvPr/>
            </p:nvSpPr>
            <p:spPr>
              <a:xfrm>
                <a:off x="5008208" y="6194114"/>
                <a:ext cx="2687444" cy="674959"/>
              </a:xfrm>
              <a:prstGeom prst="rect">
                <a:avLst/>
              </a:prstGeom>
              <a:blipFill>
                <a:blip r:embed="rId3"/>
                <a:stretch>
                  <a:fillRect l="-2955" t="-12613"/>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EA89C51B-BE77-EC19-C7C8-012D8F65D27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99707" y="1507891"/>
            <a:ext cx="4740188" cy="4518683"/>
          </a:xfrm>
          <a:prstGeom prst="rect">
            <a:avLst/>
          </a:prstGeom>
        </p:spPr>
      </p:pic>
      <p:pic>
        <p:nvPicPr>
          <p:cNvPr id="7" name="Picture 6">
            <a:extLst>
              <a:ext uri="{FF2B5EF4-FFF2-40B4-BE49-F238E27FC236}">
                <a16:creationId xmlns:a16="http://schemas.microsoft.com/office/drawing/2014/main" id="{93F94923-473A-BAEA-2D75-FB813E7D0BA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669280" y="1614327"/>
            <a:ext cx="4740189" cy="4305812"/>
          </a:xfrm>
          <a:prstGeom prst="rect">
            <a:avLst/>
          </a:prstGeom>
        </p:spPr>
      </p:pic>
    </p:spTree>
    <p:extLst>
      <p:ext uri="{BB962C8B-B14F-4D97-AF65-F5344CB8AC3E}">
        <p14:creationId xmlns:p14="http://schemas.microsoft.com/office/powerpoint/2010/main" val="1603211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5C56-760A-6D6F-2F5F-A858743BDEF1}"/>
              </a:ext>
            </a:extLst>
          </p:cNvPr>
          <p:cNvSpPr>
            <a:spLocks noGrp="1"/>
          </p:cNvSpPr>
          <p:nvPr>
            <p:ph type="title"/>
          </p:nvPr>
        </p:nvSpPr>
        <p:spPr/>
        <p:txBody>
          <a:bodyPr/>
          <a:lstStyle/>
          <a:p>
            <a:r>
              <a:rPr lang="en-GB" dirty="0"/>
              <a:t>Effect of knot adjustment</a:t>
            </a: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58ED13BC-B3A0-79A6-B57F-F02166723100}"/>
                  </a:ext>
                </a:extLst>
              </p:cNvPr>
              <p:cNvSpPr txBox="1">
                <a:spLocks/>
              </p:cNvSpPr>
              <p:nvPr/>
            </p:nvSpPr>
            <p:spPr>
              <a:xfrm>
                <a:off x="5008208" y="6194114"/>
                <a:ext cx="2687444" cy="67495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T</a:t>
                </a:r>
                <a14:m>
                  <m:oMath xmlns:m="http://schemas.openxmlformats.org/officeDocument/2006/math">
                    <m:r>
                      <a:rPr lang="en-GB" sz="4000" i="1" smtClean="0">
                        <a:latin typeface="Cambria Math" panose="02040503050406030204" pitchFamily="18" charset="0"/>
                      </a:rPr>
                      <m:t>= </m:t>
                    </m:r>
                    <m:r>
                      <a:rPr lang="en-GB" sz="4000" b="0" i="1" smtClean="0">
                        <a:latin typeface="Cambria Math" panose="02040503050406030204" pitchFamily="18" charset="0"/>
                      </a:rPr>
                      <m:t>[</m:t>
                    </m:r>
                    <m:r>
                      <a:rPr lang="en-GB" sz="4000" b="0" i="0" smtClean="0">
                        <a:latin typeface="Cambria Math" panose="02040503050406030204" pitchFamily="18" charset="0"/>
                      </a:rPr>
                      <m:t>2</m:t>
                    </m:r>
                    <m:r>
                      <a:rPr lang="en-GB" sz="4000" b="0" smtClean="0">
                        <a:latin typeface="Cambria Math" panose="02040503050406030204" pitchFamily="18" charset="0"/>
                      </a:rPr>
                      <m:t>,</m:t>
                    </m:r>
                    <m:r>
                      <a:rPr lang="en-GB" sz="4000" b="0" i="1" smtClean="0">
                        <a:latin typeface="Cambria Math" panose="02040503050406030204" pitchFamily="18" charset="0"/>
                      </a:rPr>
                      <m:t>2</m:t>
                    </m:r>
                    <m:r>
                      <a:rPr lang="en-GB" sz="4000" b="0" smtClean="0">
                        <a:latin typeface="Cambria Math" panose="02040503050406030204" pitchFamily="18" charset="0"/>
                      </a:rPr>
                      <m:t>,</m:t>
                    </m:r>
                    <m:r>
                      <a:rPr lang="en-GB" sz="4000" b="0" i="1" smtClean="0">
                        <a:latin typeface="Cambria Math" panose="02040503050406030204" pitchFamily="18" charset="0"/>
                      </a:rPr>
                      <m:t>2,3,4,5,</m:t>
                    </m:r>
                    <m:r>
                      <a:rPr lang="en-GB" sz="4000" b="0" i="0" smtClean="0">
                        <a:latin typeface="Cambria Math" panose="02040503050406030204" pitchFamily="18" charset="0"/>
                      </a:rPr>
                      <m:t>5,5</m:t>
                    </m:r>
                    <m:r>
                      <a:rPr lang="en-GB" sz="4000" b="0" smtClean="0">
                        <a:latin typeface="Cambria Math" panose="02040503050406030204" pitchFamily="18" charset="0"/>
                      </a:rPr>
                      <m:t>]</m:t>
                    </m:r>
                  </m:oMath>
                </a14:m>
                <a:br>
                  <a:rPr lang="en-GB" b="1" dirty="0">
                    <a:latin typeface="Cambria Math" panose="02040503050406030204" pitchFamily="18" charset="0"/>
                  </a:rPr>
                </a:br>
                <a:endParaRPr lang="en-GB" dirty="0"/>
              </a:p>
            </p:txBody>
          </p:sp>
        </mc:Choice>
        <mc:Fallback xmlns="">
          <p:sp>
            <p:nvSpPr>
              <p:cNvPr id="8" name="Title 1">
                <a:extLst>
                  <a:ext uri="{FF2B5EF4-FFF2-40B4-BE49-F238E27FC236}">
                    <a16:creationId xmlns:a16="http://schemas.microsoft.com/office/drawing/2014/main" id="{58ED13BC-B3A0-79A6-B57F-F02166723100}"/>
                  </a:ext>
                </a:extLst>
              </p:cNvPr>
              <p:cNvSpPr txBox="1">
                <a:spLocks noRot="1" noChangeAspect="1" noMove="1" noResize="1" noEditPoints="1" noAdjustHandles="1" noChangeArrowheads="1" noChangeShapeType="1" noTextEdit="1"/>
              </p:cNvSpPr>
              <p:nvPr/>
            </p:nvSpPr>
            <p:spPr>
              <a:xfrm>
                <a:off x="5008208" y="6194114"/>
                <a:ext cx="2687444" cy="674959"/>
              </a:xfrm>
              <a:prstGeom prst="rect">
                <a:avLst/>
              </a:prstGeom>
              <a:blipFill>
                <a:blip r:embed="rId2"/>
                <a:stretch>
                  <a:fillRect l="-2955" t="-12613"/>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EA89C51B-BE77-EC19-C7C8-012D8F65D2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99707" y="1507891"/>
            <a:ext cx="4740187" cy="4518683"/>
          </a:xfrm>
          <a:prstGeom prst="rect">
            <a:avLst/>
          </a:prstGeom>
        </p:spPr>
      </p:pic>
      <p:pic>
        <p:nvPicPr>
          <p:cNvPr id="7" name="Picture 6">
            <a:extLst>
              <a:ext uri="{FF2B5EF4-FFF2-40B4-BE49-F238E27FC236}">
                <a16:creationId xmlns:a16="http://schemas.microsoft.com/office/drawing/2014/main" id="{93F94923-473A-BAEA-2D75-FB813E7D0B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669280" y="1614327"/>
            <a:ext cx="4740188" cy="4305812"/>
          </a:xfrm>
          <a:prstGeom prst="rect">
            <a:avLst/>
          </a:prstGeom>
        </p:spPr>
      </p:pic>
    </p:spTree>
    <p:extLst>
      <p:ext uri="{BB962C8B-B14F-4D97-AF65-F5344CB8AC3E}">
        <p14:creationId xmlns:p14="http://schemas.microsoft.com/office/powerpoint/2010/main" val="1710783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4D35E-11EC-9F30-73FC-91BC157D8890}"/>
              </a:ext>
            </a:extLst>
          </p:cNvPr>
          <p:cNvSpPr>
            <a:spLocks noGrp="1"/>
          </p:cNvSpPr>
          <p:nvPr>
            <p:ph type="title"/>
          </p:nvPr>
        </p:nvSpPr>
        <p:spPr/>
        <p:txBody>
          <a:bodyPr/>
          <a:lstStyle/>
          <a:p>
            <a:r>
              <a:rPr lang="en-GB" dirty="0"/>
              <a:t>Knot adjustment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ACF89B-E039-3A7D-88CC-65A0134B4568}"/>
                  </a:ext>
                </a:extLst>
              </p:cNvPr>
              <p:cNvSpPr>
                <a:spLocks noGrp="1"/>
              </p:cNvSpPr>
              <p:nvPr>
                <p:ph idx="1"/>
              </p:nvPr>
            </p:nvSpPr>
            <p:spPr/>
            <p:txBody>
              <a:bodyPr>
                <a:normAutofit/>
              </a:bodyPr>
              <a:lstStyle/>
              <a:p>
                <a:r>
                  <a:rPr lang="en-GB" dirty="0"/>
                  <a:t>Stacking </a:t>
                </a:r>
                <a14:m>
                  <m:oMath xmlns:m="http://schemas.openxmlformats.org/officeDocument/2006/math">
                    <m:r>
                      <a:rPr lang="en-GB" b="0" i="1" smtClean="0">
                        <a:latin typeface="Cambria Math" panose="02040503050406030204" pitchFamily="18" charset="0"/>
                      </a:rPr>
                      <m:t>𝑑</m:t>
                    </m:r>
                  </m:oMath>
                </a14:m>
                <a:r>
                  <a:rPr lang="en-GB" dirty="0"/>
                  <a:t> knots will cause the spline to pass through the associated control point.</a:t>
                </a:r>
              </a:p>
              <a:p>
                <a:r>
                  <a:rPr lang="en-GB" dirty="0"/>
                  <a:t>However:</a:t>
                </a:r>
              </a:p>
              <a:p>
                <a:pPr lvl="1"/>
                <a:r>
                  <a:rPr lang="en-GB" dirty="0"/>
                  <a:t>B-splines with no stacked knots are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𝑑</m:t>
                        </m:r>
                        <m:r>
                          <a:rPr lang="en-GB" b="0" i="1" smtClean="0">
                            <a:latin typeface="Cambria Math" panose="02040503050406030204" pitchFamily="18" charset="0"/>
                          </a:rPr>
                          <m:t>−1</m:t>
                        </m:r>
                      </m:sub>
                    </m:sSub>
                  </m:oMath>
                </a14:m>
                <a:r>
                  <a:rPr lang="en-GB" dirty="0"/>
                  <a:t> continuous.</a:t>
                </a:r>
              </a:p>
              <a:p>
                <a:pPr lvl="1"/>
                <a:r>
                  <a:rPr lang="en-GB" dirty="0"/>
                  <a:t>Each stacked knot reduces the continuity by 1, such that stacking </a:t>
                </a:r>
                <a14:m>
                  <m:oMath xmlns:m="http://schemas.openxmlformats.org/officeDocument/2006/math">
                    <m:r>
                      <a:rPr lang="en-GB" b="0" i="1" smtClean="0">
                        <a:latin typeface="Cambria Math" panose="02040503050406030204" pitchFamily="18" charset="0"/>
                      </a:rPr>
                      <m:t>𝑑</m:t>
                    </m:r>
                  </m:oMath>
                </a14:m>
                <a:r>
                  <a:rPr lang="en-GB" dirty="0"/>
                  <a:t> knots causes sharp turns in the spline.</a:t>
                </a:r>
              </a:p>
              <a:p>
                <a:pPr lvl="1"/>
                <a:r>
                  <a:rPr lang="en-GB" dirty="0"/>
                  <a:t>Hence knot stacking is generally only used for termination</a:t>
                </a:r>
              </a:p>
              <a:p>
                <a:r>
                  <a:rPr lang="en-GB" dirty="0"/>
                  <a:t>Knot refinement is more common. </a:t>
                </a:r>
              </a:p>
              <a:p>
                <a:endParaRPr lang="en-GB" dirty="0"/>
              </a:p>
            </p:txBody>
          </p:sp>
        </mc:Choice>
        <mc:Fallback>
          <p:sp>
            <p:nvSpPr>
              <p:cNvPr id="3" name="Content Placeholder 2">
                <a:extLst>
                  <a:ext uri="{FF2B5EF4-FFF2-40B4-BE49-F238E27FC236}">
                    <a16:creationId xmlns:a16="http://schemas.microsoft.com/office/drawing/2014/main" id="{7AACF89B-E039-3A7D-88CC-65A0134B4568}"/>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3149000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911E6-00F9-6B50-4863-42D5842AFDE1}"/>
              </a:ext>
            </a:extLst>
          </p:cNvPr>
          <p:cNvSpPr>
            <a:spLocks noGrp="1"/>
          </p:cNvSpPr>
          <p:nvPr>
            <p:ph type="title"/>
          </p:nvPr>
        </p:nvSpPr>
        <p:spPr/>
        <p:txBody>
          <a:bodyPr/>
          <a:lstStyle/>
          <a:p>
            <a:r>
              <a:rPr lang="en-GB" dirty="0"/>
              <a:t>More than 1 Dimension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765479-4DA9-B5C8-85D1-465B0A8463AE}"/>
                  </a:ext>
                </a:extLst>
              </p:cNvPr>
              <p:cNvSpPr>
                <a:spLocks noGrp="1"/>
              </p:cNvSpPr>
              <p:nvPr>
                <p:ph idx="1"/>
              </p:nvPr>
            </p:nvSpPr>
            <p:spPr/>
            <p:txBody>
              <a:bodyPr/>
              <a:lstStyle/>
              <a:p>
                <a14:m>
                  <m:oMath xmlns:m="http://schemas.openxmlformats.org/officeDocument/2006/math">
                    <m:r>
                      <a:rPr lang="en-GB" b="0" i="1" smtClean="0">
                        <a:latin typeface="Cambria Math" panose="02040503050406030204" pitchFamily="18" charset="0"/>
                      </a:rPr>
                      <m:t>𝑆</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𝑦</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E765479-4DA9-B5C8-85D1-465B0A8463AE}"/>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pic>
        <p:nvPicPr>
          <p:cNvPr id="5" name="Picture 4" descr="A picture containing text, diagram, plot, line&#10;&#10;Description automatically generated">
            <a:extLst>
              <a:ext uri="{FF2B5EF4-FFF2-40B4-BE49-F238E27FC236}">
                <a16:creationId xmlns:a16="http://schemas.microsoft.com/office/drawing/2014/main" id="{1EA2E585-903A-EEB8-ED6C-92EDC94224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415670"/>
            <a:ext cx="4572000" cy="4251377"/>
          </a:xfrm>
          <a:prstGeom prst="rect">
            <a:avLst/>
          </a:prstGeom>
        </p:spPr>
      </p:pic>
      <p:pic>
        <p:nvPicPr>
          <p:cNvPr id="7" name="Picture 6">
            <a:extLst>
              <a:ext uri="{FF2B5EF4-FFF2-40B4-BE49-F238E27FC236}">
                <a16:creationId xmlns:a16="http://schemas.microsoft.com/office/drawing/2014/main" id="{96E50C42-9256-BB2D-32BF-9D1B8881D5A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781802" y="2415669"/>
            <a:ext cx="4571999" cy="4251377"/>
          </a:xfrm>
          <a:prstGeom prst="rect">
            <a:avLst/>
          </a:prstGeom>
        </p:spPr>
      </p:pic>
    </p:spTree>
    <p:extLst>
      <p:ext uri="{BB962C8B-B14F-4D97-AF65-F5344CB8AC3E}">
        <p14:creationId xmlns:p14="http://schemas.microsoft.com/office/powerpoint/2010/main" val="189390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911E6-00F9-6B50-4863-42D5842AFDE1}"/>
              </a:ext>
            </a:extLst>
          </p:cNvPr>
          <p:cNvSpPr>
            <a:spLocks noGrp="1"/>
          </p:cNvSpPr>
          <p:nvPr>
            <p:ph type="title"/>
          </p:nvPr>
        </p:nvSpPr>
        <p:spPr/>
        <p:txBody>
          <a:bodyPr/>
          <a:lstStyle/>
          <a:p>
            <a:r>
              <a:rPr lang="en-GB" dirty="0"/>
              <a:t>More than 1-D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765479-4DA9-B5C8-85D1-465B0A8463AE}"/>
                  </a:ext>
                </a:extLst>
              </p:cNvPr>
              <p:cNvSpPr>
                <a:spLocks noGrp="1"/>
              </p:cNvSpPr>
              <p:nvPr>
                <p:ph idx="1"/>
              </p:nvPr>
            </p:nvSpPr>
            <p:spPr/>
            <p:txBody>
              <a:bodyPr/>
              <a:lstStyle/>
              <a:p>
                <a14:m>
                  <m:oMath xmlns:m="http://schemas.openxmlformats.org/officeDocument/2006/math">
                    <m:r>
                      <a:rPr lang="en-GB" b="0" i="1" smtClean="0">
                        <a:latin typeface="Cambria Math" panose="02040503050406030204" pitchFamily="18" charset="0"/>
                      </a:rPr>
                      <m:t>𝑆</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𝑦</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E765479-4DA9-B5C8-85D1-465B0A8463AE}"/>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p:pic>
        <p:nvPicPr>
          <p:cNvPr id="9" name="Picture 8" descr="A picture containing text, diagram, line, plot&#10;&#10;Description automatically generated">
            <a:extLst>
              <a:ext uri="{FF2B5EF4-FFF2-40B4-BE49-F238E27FC236}">
                <a16:creationId xmlns:a16="http://schemas.microsoft.com/office/drawing/2014/main" id="{DD6C4DEB-EB58-1C07-15A6-D74B098F0C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2378" y="629453"/>
            <a:ext cx="6601422" cy="5979681"/>
          </a:xfrm>
          <a:prstGeom prst="rect">
            <a:avLst/>
          </a:prstGeom>
        </p:spPr>
      </p:pic>
    </p:spTree>
    <p:extLst>
      <p:ext uri="{BB962C8B-B14F-4D97-AF65-F5344CB8AC3E}">
        <p14:creationId xmlns:p14="http://schemas.microsoft.com/office/powerpoint/2010/main" val="2164606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1520</TotalTime>
  <Words>1126</Words>
  <Application>Microsoft Office PowerPoint</Application>
  <PresentationFormat>Widescreen</PresentationFormat>
  <Paragraphs>162</Paragraphs>
  <Slides>23</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Cambria Math</vt:lpstr>
      <vt:lpstr>Office Theme</vt:lpstr>
      <vt:lpstr>B-splines </vt:lpstr>
      <vt:lpstr>B-splines </vt:lpstr>
      <vt:lpstr>B-Spline inputs</vt:lpstr>
      <vt:lpstr>B-splines</vt:lpstr>
      <vt:lpstr>B-spline definition</vt:lpstr>
      <vt:lpstr>Basis Functions</vt:lpstr>
      <vt:lpstr>The knot vector</vt:lpstr>
      <vt:lpstr>A uniform quadratic spline</vt:lpstr>
      <vt:lpstr>Basis Functions</vt:lpstr>
      <vt:lpstr>A uniform quadratic B-spline</vt:lpstr>
      <vt:lpstr>A uniform quadratic B-spline</vt:lpstr>
      <vt:lpstr>PowerPoint Presentation</vt:lpstr>
      <vt:lpstr>P= [1,4,2] </vt:lpstr>
      <vt:lpstr>Effect of control points</vt:lpstr>
      <vt:lpstr>Effect of knot adjustment</vt:lpstr>
      <vt:lpstr>Effect of knot adjustment</vt:lpstr>
      <vt:lpstr>Effect of knot adjustment</vt:lpstr>
      <vt:lpstr>Effect of knot adjustment</vt:lpstr>
      <vt:lpstr>Effect of knot adjustment</vt:lpstr>
      <vt:lpstr>Effect of knot adjustment</vt:lpstr>
      <vt:lpstr>Knot adjustment</vt:lpstr>
      <vt:lpstr>More than 1 Dimension </vt:lpstr>
      <vt:lpstr>More than 1-D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B-splines </dc:title>
  <dc:creator>Christopher Blum</dc:creator>
  <cp:lastModifiedBy>Christopher Blum</cp:lastModifiedBy>
  <cp:revision>15</cp:revision>
  <dcterms:created xsi:type="dcterms:W3CDTF">2023-06-08T12:57:03Z</dcterms:created>
  <dcterms:modified xsi:type="dcterms:W3CDTF">2023-07-07T16:30:51Z</dcterms:modified>
</cp:coreProperties>
</file>